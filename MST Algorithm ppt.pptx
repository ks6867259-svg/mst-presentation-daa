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F7F7F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F5F5F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F7F7F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F5F5F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F7F7F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564381"/>
            <a:ext cx="18287999" cy="472261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F7F7F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9689" y="463825"/>
            <a:ext cx="4051300" cy="2064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F7F7F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6318" y="3017142"/>
            <a:ext cx="9446895" cy="2650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F5F5F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png"/><Relationship Id="rId14" Type="http://schemas.openxmlformats.org/officeDocument/2006/relationships/image" Target="../media/image31.png"/><Relationship Id="rId15" Type="http://schemas.openxmlformats.org/officeDocument/2006/relationships/image" Target="../media/image32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Relationship Id="rId15" Type="http://schemas.openxmlformats.org/officeDocument/2006/relationships/image" Target="../media/image46.png"/><Relationship Id="rId16" Type="http://schemas.openxmlformats.org/officeDocument/2006/relationships/image" Target="../media/image47.png"/><Relationship Id="rId17" Type="http://schemas.openxmlformats.org/officeDocument/2006/relationships/image" Target="../media/image48.png"/><Relationship Id="rId18" Type="http://schemas.openxmlformats.org/officeDocument/2006/relationships/image" Target="../media/image49.png"/><Relationship Id="rId19" Type="http://schemas.openxmlformats.org/officeDocument/2006/relationships/image" Target="../media/image50.png"/><Relationship Id="rId20" Type="http://schemas.openxmlformats.org/officeDocument/2006/relationships/image" Target="../media/image51.png"/><Relationship Id="rId21" Type="http://schemas.openxmlformats.org/officeDocument/2006/relationships/image" Target="../media/image5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4.png"/><Relationship Id="rId14" Type="http://schemas.openxmlformats.org/officeDocument/2006/relationships/image" Target="../media/image65.png"/><Relationship Id="rId15" Type="http://schemas.openxmlformats.org/officeDocument/2006/relationships/image" Target="../media/image66.png"/><Relationship Id="rId16" Type="http://schemas.openxmlformats.org/officeDocument/2006/relationships/image" Target="../media/image67.png"/><Relationship Id="rId17" Type="http://schemas.openxmlformats.org/officeDocument/2006/relationships/image" Target="../media/image68.png"/><Relationship Id="rId18" Type="http://schemas.openxmlformats.org/officeDocument/2006/relationships/image" Target="../media/image69.png"/><Relationship Id="rId19" Type="http://schemas.openxmlformats.org/officeDocument/2006/relationships/image" Target="../media/image70.png"/><Relationship Id="rId20" Type="http://schemas.openxmlformats.org/officeDocument/2006/relationships/image" Target="../media/image71.png"/><Relationship Id="rId21" Type="http://schemas.openxmlformats.org/officeDocument/2006/relationships/image" Target="../media/image72.png"/><Relationship Id="rId22" Type="http://schemas.openxmlformats.org/officeDocument/2006/relationships/image" Target="../media/image73.png"/><Relationship Id="rId23" Type="http://schemas.openxmlformats.org/officeDocument/2006/relationships/image" Target="../media/image74.png"/><Relationship Id="rId24" Type="http://schemas.openxmlformats.org/officeDocument/2006/relationships/image" Target="../media/image75.png"/><Relationship Id="rId25" Type="http://schemas.openxmlformats.org/officeDocument/2006/relationships/image" Target="../media/image76.png"/><Relationship Id="rId26" Type="http://schemas.openxmlformats.org/officeDocument/2006/relationships/image" Target="../media/image77.png"/><Relationship Id="rId27" Type="http://schemas.openxmlformats.org/officeDocument/2006/relationships/image" Target="../media/image78.png"/><Relationship Id="rId28" Type="http://schemas.openxmlformats.org/officeDocument/2006/relationships/image" Target="../media/image79.png"/><Relationship Id="rId29" Type="http://schemas.openxmlformats.org/officeDocument/2006/relationships/image" Target="../media/image80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8067" y="501633"/>
            <a:ext cx="8709025" cy="35712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3180">
              <a:lnSpc>
                <a:spcPts val="8880"/>
              </a:lnSpc>
              <a:spcBef>
                <a:spcPts val="135"/>
              </a:spcBef>
            </a:pPr>
            <a:r>
              <a:rPr dirty="0" sz="7600" spc="-125" b="1">
                <a:solidFill>
                  <a:srgbClr val="F7F7F7"/>
                </a:solidFill>
                <a:latin typeface="Calibri"/>
                <a:cs typeface="Calibri"/>
              </a:rPr>
              <a:t>Introduction</a:t>
            </a:r>
            <a:r>
              <a:rPr dirty="0" sz="7600" spc="-760" b="1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dirty="0" sz="7600" spc="-25" b="1">
                <a:solidFill>
                  <a:srgbClr val="F7F7F7"/>
                </a:solidFill>
                <a:latin typeface="Calibri"/>
                <a:cs typeface="Calibri"/>
              </a:rPr>
              <a:t>to</a:t>
            </a:r>
            <a:endParaRPr sz="7600">
              <a:latin typeface="Calibri"/>
              <a:cs typeface="Calibri"/>
            </a:endParaRPr>
          </a:p>
          <a:p>
            <a:pPr marL="62230">
              <a:lnSpc>
                <a:spcPts val="9320"/>
              </a:lnSpc>
            </a:pPr>
            <a:r>
              <a:rPr dirty="0" sz="8250" spc="-425" b="1">
                <a:solidFill>
                  <a:srgbClr val="E9913F"/>
                </a:solidFill>
                <a:latin typeface="Calibri"/>
                <a:cs typeface="Calibri"/>
              </a:rPr>
              <a:t>Minimum</a:t>
            </a:r>
            <a:endParaRPr sz="8250">
              <a:latin typeface="Calibri"/>
              <a:cs typeface="Calibri"/>
            </a:endParaRPr>
          </a:p>
          <a:p>
            <a:pPr marL="12700">
              <a:lnSpc>
                <a:spcPts val="9680"/>
              </a:lnSpc>
            </a:pPr>
            <a:r>
              <a:rPr dirty="0" sz="8350" spc="-150" b="1">
                <a:solidFill>
                  <a:srgbClr val="E9913F"/>
                </a:solidFill>
                <a:latin typeface="Calibri"/>
                <a:cs typeface="Calibri"/>
              </a:rPr>
              <a:t>Spanning</a:t>
            </a:r>
            <a:r>
              <a:rPr dirty="0" sz="8350" spc="-919" b="1">
                <a:solidFill>
                  <a:srgbClr val="E9913F"/>
                </a:solidFill>
                <a:latin typeface="Calibri"/>
                <a:cs typeface="Calibri"/>
              </a:rPr>
              <a:t> </a:t>
            </a:r>
            <a:r>
              <a:rPr dirty="0" sz="8350" spc="80" b="1">
                <a:solidFill>
                  <a:srgbClr val="E9913F"/>
                </a:solidFill>
                <a:latin typeface="Calibri"/>
                <a:cs typeface="Calibri"/>
              </a:rPr>
              <a:t>Tree</a:t>
            </a:r>
            <a:r>
              <a:rPr dirty="0" sz="8350" spc="-915" b="1">
                <a:solidFill>
                  <a:srgbClr val="E9913F"/>
                </a:solidFill>
                <a:latin typeface="Calibri"/>
                <a:cs typeface="Calibri"/>
              </a:rPr>
              <a:t> </a:t>
            </a:r>
            <a:r>
              <a:rPr dirty="0" sz="8350" spc="-2225" b="1">
                <a:solidFill>
                  <a:srgbClr val="E9913F"/>
                </a:solidFill>
                <a:latin typeface="Calibri"/>
                <a:cs typeface="Calibri"/>
              </a:rPr>
              <a:t>(</a:t>
            </a:r>
            <a:r>
              <a:rPr dirty="0" baseline="-2328" sz="12525" spc="-1357" b="1">
                <a:solidFill>
                  <a:srgbClr val="332926"/>
                </a:solidFill>
                <a:latin typeface="Calibri"/>
                <a:cs typeface="Calibri"/>
              </a:rPr>
              <a:t>(</a:t>
            </a:r>
            <a:r>
              <a:rPr dirty="0" sz="8350" spc="-305" b="1">
                <a:solidFill>
                  <a:srgbClr val="E9913F"/>
                </a:solidFill>
                <a:latin typeface="Calibri"/>
                <a:cs typeface="Calibri"/>
              </a:rPr>
              <a:t>M</a:t>
            </a:r>
            <a:r>
              <a:rPr dirty="0" sz="8350" spc="-275" b="1">
                <a:solidFill>
                  <a:srgbClr val="E9913F"/>
                </a:solidFill>
                <a:latin typeface="Calibri"/>
                <a:cs typeface="Calibri"/>
              </a:rPr>
              <a:t>S</a:t>
            </a:r>
            <a:r>
              <a:rPr dirty="0" sz="8350" spc="-295" b="1">
                <a:solidFill>
                  <a:srgbClr val="E9913F"/>
                </a:solidFill>
                <a:latin typeface="Calibri"/>
                <a:cs typeface="Calibri"/>
              </a:rPr>
              <a:t>T</a:t>
            </a:r>
            <a:r>
              <a:rPr dirty="0" sz="8350" spc="-2240" b="1">
                <a:solidFill>
                  <a:srgbClr val="E9913F"/>
                </a:solidFill>
                <a:latin typeface="Calibri"/>
                <a:cs typeface="Calibri"/>
              </a:rPr>
              <a:t>)</a:t>
            </a:r>
            <a:r>
              <a:rPr dirty="0" baseline="-2328" sz="12525" spc="-195" b="1">
                <a:solidFill>
                  <a:srgbClr val="332926"/>
                </a:solidFill>
                <a:latin typeface="Calibri"/>
                <a:cs typeface="Calibri"/>
              </a:rPr>
              <a:t>)</a:t>
            </a:r>
            <a:endParaRPr baseline="-2328" sz="12525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330" y="4493046"/>
            <a:ext cx="2190749" cy="2285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20553" y="5167442"/>
            <a:ext cx="6061075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 spc="-120">
                <a:solidFill>
                  <a:srgbClr val="F7F7F7"/>
                </a:solidFill>
                <a:latin typeface="Calibri"/>
                <a:cs typeface="Calibri"/>
              </a:rPr>
              <a:t>A</a:t>
            </a:r>
            <a:r>
              <a:rPr dirty="0" sz="3450" spc="-275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dirty="0" sz="3450" b="1">
                <a:solidFill>
                  <a:srgbClr val="E9913F"/>
                </a:solidFill>
                <a:latin typeface="Calibri"/>
                <a:cs typeface="Calibri"/>
              </a:rPr>
              <a:t>graph</a:t>
            </a:r>
            <a:r>
              <a:rPr dirty="0" sz="3450" spc="-275" b="1">
                <a:solidFill>
                  <a:srgbClr val="E9913F"/>
                </a:solidFill>
                <a:latin typeface="Calibri"/>
                <a:cs typeface="Calibri"/>
              </a:rPr>
              <a:t> </a:t>
            </a:r>
            <a:r>
              <a:rPr dirty="0" sz="3450" spc="-150">
                <a:solidFill>
                  <a:srgbClr val="F7F7F7"/>
                </a:solidFill>
                <a:latin typeface="Calibri"/>
                <a:cs typeface="Calibri"/>
              </a:rPr>
              <a:t>connects</a:t>
            </a:r>
            <a:r>
              <a:rPr dirty="0" sz="3450" spc="-28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dirty="0" sz="3450" spc="-114">
                <a:solidFill>
                  <a:srgbClr val="F7F7F7"/>
                </a:solidFill>
                <a:latin typeface="Calibri"/>
                <a:cs typeface="Calibri"/>
              </a:rPr>
              <a:t>ve</a:t>
            </a:r>
            <a:r>
              <a:rPr dirty="0" sz="3450" spc="-105">
                <a:solidFill>
                  <a:srgbClr val="F7F7F7"/>
                </a:solidFill>
                <a:latin typeface="Calibri"/>
                <a:cs typeface="Calibri"/>
              </a:rPr>
              <a:t>rt</a:t>
            </a:r>
            <a:r>
              <a:rPr dirty="0" sz="3450" spc="-645">
                <a:solidFill>
                  <a:srgbClr val="F7F7F7"/>
                </a:solidFill>
                <a:latin typeface="Calibri"/>
                <a:cs typeface="Calibri"/>
              </a:rPr>
              <a:t>i</a:t>
            </a:r>
            <a:r>
              <a:rPr dirty="0" baseline="-2415" sz="5175" spc="-450">
                <a:solidFill>
                  <a:srgbClr val="332926"/>
                </a:solidFill>
                <a:latin typeface="Calibri"/>
                <a:cs typeface="Calibri"/>
              </a:rPr>
              <a:t>i</a:t>
            </a:r>
            <a:r>
              <a:rPr dirty="0" sz="3450" spc="-105">
                <a:solidFill>
                  <a:srgbClr val="F7F7F7"/>
                </a:solidFill>
                <a:latin typeface="Calibri"/>
                <a:cs typeface="Calibri"/>
              </a:rPr>
              <a:t>c</a:t>
            </a:r>
            <a:r>
              <a:rPr dirty="0" sz="3450" spc="-114">
                <a:solidFill>
                  <a:srgbClr val="F7F7F7"/>
                </a:solidFill>
                <a:latin typeface="Calibri"/>
                <a:cs typeface="Calibri"/>
              </a:rPr>
              <a:t>e</a:t>
            </a:r>
            <a:r>
              <a:rPr dirty="0" sz="3450" spc="-30">
                <a:solidFill>
                  <a:srgbClr val="F7F7F7"/>
                </a:solidFill>
                <a:latin typeface="Calibri"/>
                <a:cs typeface="Calibri"/>
              </a:rPr>
              <a:t>s</a:t>
            </a:r>
            <a:r>
              <a:rPr dirty="0" sz="3450" spc="-28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dirty="0" sz="3450" spc="-195">
                <a:solidFill>
                  <a:srgbClr val="F7F7F7"/>
                </a:solidFill>
                <a:latin typeface="Calibri"/>
                <a:cs typeface="Calibri"/>
              </a:rPr>
              <a:t>w</a:t>
            </a:r>
            <a:r>
              <a:rPr dirty="0" sz="3450" spc="-730">
                <a:solidFill>
                  <a:srgbClr val="F7F7F7"/>
                </a:solidFill>
                <a:latin typeface="Calibri"/>
                <a:cs typeface="Calibri"/>
              </a:rPr>
              <a:t>i</a:t>
            </a:r>
            <a:r>
              <a:rPr dirty="0" baseline="-2415" sz="5175" spc="-577">
                <a:solidFill>
                  <a:srgbClr val="332926"/>
                </a:solidFill>
                <a:latin typeface="Calibri"/>
                <a:cs typeface="Calibri"/>
              </a:rPr>
              <a:t>i</a:t>
            </a:r>
            <a:r>
              <a:rPr dirty="0" sz="3450" spc="-190">
                <a:solidFill>
                  <a:srgbClr val="F7F7F7"/>
                </a:solidFill>
                <a:latin typeface="Calibri"/>
                <a:cs typeface="Calibri"/>
              </a:rPr>
              <a:t>t</a:t>
            </a:r>
            <a:r>
              <a:rPr dirty="0" sz="3450" spc="-114">
                <a:solidFill>
                  <a:srgbClr val="F7F7F7"/>
                </a:solidFill>
                <a:latin typeface="Calibri"/>
                <a:cs typeface="Calibri"/>
              </a:rPr>
              <a:t>h</a:t>
            </a:r>
            <a:r>
              <a:rPr dirty="0" sz="3450" spc="-285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dirty="0" sz="3450" spc="-35">
                <a:solidFill>
                  <a:srgbClr val="F7F7F7"/>
                </a:solidFill>
                <a:latin typeface="Calibri"/>
                <a:cs typeface="Calibri"/>
              </a:rPr>
              <a:t>edges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3800" y="6056032"/>
            <a:ext cx="4909185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 spc="-135">
                <a:solidFill>
                  <a:srgbClr val="F7F7F7"/>
                </a:solidFill>
                <a:latin typeface="Calibri"/>
                <a:cs typeface="Calibri"/>
              </a:rPr>
              <a:t>Edge</a:t>
            </a:r>
            <a:r>
              <a:rPr dirty="0" sz="3450" spc="-28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dirty="0" sz="3450" spc="-30" b="1">
                <a:solidFill>
                  <a:srgbClr val="E9913F"/>
                </a:solidFill>
                <a:latin typeface="Calibri"/>
                <a:cs typeface="Calibri"/>
              </a:rPr>
              <a:t>weights</a:t>
            </a:r>
            <a:r>
              <a:rPr dirty="0" sz="3450" spc="-275" b="1">
                <a:solidFill>
                  <a:srgbClr val="E9913F"/>
                </a:solidFill>
                <a:latin typeface="Calibri"/>
                <a:cs typeface="Calibri"/>
              </a:rPr>
              <a:t> </a:t>
            </a:r>
            <a:r>
              <a:rPr dirty="0" sz="3450" spc="-135">
                <a:solidFill>
                  <a:srgbClr val="F7F7F7"/>
                </a:solidFill>
                <a:latin typeface="Calibri"/>
                <a:cs typeface="Calibri"/>
              </a:rPr>
              <a:t>represent</a:t>
            </a:r>
            <a:r>
              <a:rPr dirty="0" sz="3450" spc="-275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dirty="0" sz="3450" spc="-10">
                <a:solidFill>
                  <a:srgbClr val="F7F7F7"/>
                </a:solidFill>
                <a:latin typeface="Calibri"/>
                <a:cs typeface="Calibri"/>
              </a:rPr>
              <a:t>costs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518" y="6959682"/>
            <a:ext cx="6976109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 spc="-254">
                <a:solidFill>
                  <a:srgbClr val="F7F7F7"/>
                </a:solidFill>
                <a:latin typeface="Calibri"/>
                <a:cs typeface="Calibri"/>
              </a:rPr>
              <a:t>An</a:t>
            </a:r>
            <a:r>
              <a:rPr dirty="0" sz="3450" spc="-29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dirty="0" sz="3450" spc="80" b="1">
                <a:solidFill>
                  <a:srgbClr val="E9913F"/>
                </a:solidFill>
                <a:latin typeface="Calibri"/>
                <a:cs typeface="Calibri"/>
              </a:rPr>
              <a:t>MST</a:t>
            </a:r>
            <a:r>
              <a:rPr dirty="0" sz="3450" spc="-285" b="1">
                <a:solidFill>
                  <a:srgbClr val="E9913F"/>
                </a:solidFill>
                <a:latin typeface="Calibri"/>
                <a:cs typeface="Calibri"/>
              </a:rPr>
              <a:t> </a:t>
            </a:r>
            <a:r>
              <a:rPr dirty="0" sz="3450" spc="-150">
                <a:solidFill>
                  <a:srgbClr val="F7F7F7"/>
                </a:solidFill>
                <a:latin typeface="Calibri"/>
                <a:cs typeface="Calibri"/>
              </a:rPr>
              <a:t>connects</a:t>
            </a:r>
            <a:r>
              <a:rPr dirty="0" sz="3450" spc="-29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dirty="0" sz="3450" spc="-150">
                <a:solidFill>
                  <a:srgbClr val="F7F7F7"/>
                </a:solidFill>
                <a:latin typeface="Calibri"/>
                <a:cs typeface="Calibri"/>
              </a:rPr>
              <a:t>a</a:t>
            </a:r>
            <a:r>
              <a:rPr dirty="0" sz="3450" spc="-675">
                <a:solidFill>
                  <a:srgbClr val="F7F7F7"/>
                </a:solidFill>
                <a:latin typeface="Calibri"/>
                <a:cs typeface="Calibri"/>
              </a:rPr>
              <a:t>l</a:t>
            </a:r>
            <a:r>
              <a:rPr dirty="0" baseline="-2415" sz="5175" spc="-555">
                <a:solidFill>
                  <a:srgbClr val="332926"/>
                </a:solidFill>
                <a:latin typeface="Calibri"/>
                <a:cs typeface="Calibri"/>
              </a:rPr>
              <a:t>l</a:t>
            </a:r>
            <a:r>
              <a:rPr dirty="0" sz="3450" spc="-675">
                <a:solidFill>
                  <a:srgbClr val="F7F7F7"/>
                </a:solidFill>
                <a:latin typeface="Calibri"/>
                <a:cs typeface="Calibri"/>
              </a:rPr>
              <a:t>l</a:t>
            </a:r>
            <a:r>
              <a:rPr dirty="0" baseline="-2415" sz="5175" spc="-112">
                <a:solidFill>
                  <a:srgbClr val="332926"/>
                </a:solidFill>
                <a:latin typeface="Calibri"/>
                <a:cs typeface="Calibri"/>
              </a:rPr>
              <a:t>l</a:t>
            </a:r>
            <a:r>
              <a:rPr dirty="0" baseline="-2415" sz="5175" spc="-675">
                <a:solidFill>
                  <a:srgbClr val="332926"/>
                </a:solidFill>
                <a:latin typeface="Calibri"/>
                <a:cs typeface="Calibri"/>
              </a:rPr>
              <a:t> </a:t>
            </a:r>
            <a:r>
              <a:rPr dirty="0" sz="3450" spc="-114">
                <a:solidFill>
                  <a:srgbClr val="F7F7F7"/>
                </a:solidFill>
                <a:latin typeface="Calibri"/>
                <a:cs typeface="Calibri"/>
              </a:rPr>
              <a:t>ve</a:t>
            </a:r>
            <a:r>
              <a:rPr dirty="0" sz="3450" spc="-105">
                <a:solidFill>
                  <a:srgbClr val="F7F7F7"/>
                </a:solidFill>
                <a:latin typeface="Calibri"/>
                <a:cs typeface="Calibri"/>
              </a:rPr>
              <a:t>rt</a:t>
            </a:r>
            <a:r>
              <a:rPr dirty="0" sz="3450" spc="-645">
                <a:solidFill>
                  <a:srgbClr val="F7F7F7"/>
                </a:solidFill>
                <a:latin typeface="Calibri"/>
                <a:cs typeface="Calibri"/>
              </a:rPr>
              <a:t>i</a:t>
            </a:r>
            <a:r>
              <a:rPr dirty="0" baseline="-2415" sz="5175" spc="-450">
                <a:solidFill>
                  <a:srgbClr val="332926"/>
                </a:solidFill>
                <a:latin typeface="Calibri"/>
                <a:cs typeface="Calibri"/>
              </a:rPr>
              <a:t>i</a:t>
            </a:r>
            <a:r>
              <a:rPr dirty="0" sz="3450" spc="-105">
                <a:solidFill>
                  <a:srgbClr val="F7F7F7"/>
                </a:solidFill>
                <a:latin typeface="Calibri"/>
                <a:cs typeface="Calibri"/>
              </a:rPr>
              <a:t>c</a:t>
            </a:r>
            <a:r>
              <a:rPr dirty="0" sz="3450" spc="-114">
                <a:solidFill>
                  <a:srgbClr val="F7F7F7"/>
                </a:solidFill>
                <a:latin typeface="Calibri"/>
                <a:cs typeface="Calibri"/>
              </a:rPr>
              <a:t>e</a:t>
            </a:r>
            <a:r>
              <a:rPr dirty="0" sz="3450" spc="-30">
                <a:solidFill>
                  <a:srgbClr val="F7F7F7"/>
                </a:solidFill>
                <a:latin typeface="Calibri"/>
                <a:cs typeface="Calibri"/>
              </a:rPr>
              <a:t>s</a:t>
            </a:r>
            <a:r>
              <a:rPr dirty="0" sz="3450" spc="-29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dirty="0" sz="3450" spc="-204">
                <a:solidFill>
                  <a:srgbClr val="F7F7F7"/>
                </a:solidFill>
                <a:latin typeface="Calibri"/>
                <a:cs typeface="Calibri"/>
              </a:rPr>
              <a:t>w</a:t>
            </a:r>
            <a:r>
              <a:rPr dirty="0" sz="3450" spc="-740">
                <a:solidFill>
                  <a:srgbClr val="F7F7F7"/>
                </a:solidFill>
                <a:latin typeface="Calibri"/>
                <a:cs typeface="Calibri"/>
              </a:rPr>
              <a:t>i</a:t>
            </a:r>
            <a:r>
              <a:rPr dirty="0" baseline="-2415" sz="5175" spc="-592">
                <a:solidFill>
                  <a:srgbClr val="332926"/>
                </a:solidFill>
                <a:latin typeface="Calibri"/>
                <a:cs typeface="Calibri"/>
              </a:rPr>
              <a:t>i</a:t>
            </a:r>
            <a:r>
              <a:rPr dirty="0" sz="3450" spc="-200">
                <a:solidFill>
                  <a:srgbClr val="F7F7F7"/>
                </a:solidFill>
                <a:latin typeface="Calibri"/>
                <a:cs typeface="Calibri"/>
              </a:rPr>
              <a:t>t</a:t>
            </a:r>
            <a:r>
              <a:rPr dirty="0" sz="3450" spc="-220">
                <a:solidFill>
                  <a:srgbClr val="F7F7F7"/>
                </a:solidFill>
                <a:latin typeface="Calibri"/>
                <a:cs typeface="Calibri"/>
              </a:rPr>
              <a:t>h</a:t>
            </a:r>
            <a:r>
              <a:rPr dirty="0" sz="3450" spc="-210">
                <a:solidFill>
                  <a:srgbClr val="F7F7F7"/>
                </a:solidFill>
                <a:latin typeface="Calibri"/>
                <a:cs typeface="Calibri"/>
              </a:rPr>
              <a:t>o</a:t>
            </a:r>
            <a:r>
              <a:rPr dirty="0" sz="3450" spc="-220">
                <a:solidFill>
                  <a:srgbClr val="F7F7F7"/>
                </a:solidFill>
                <a:latin typeface="Calibri"/>
                <a:cs typeface="Calibri"/>
              </a:rPr>
              <a:t>u</a:t>
            </a:r>
            <a:r>
              <a:rPr dirty="0" sz="3450" spc="-125">
                <a:solidFill>
                  <a:srgbClr val="F7F7F7"/>
                </a:solidFill>
                <a:latin typeface="Calibri"/>
                <a:cs typeface="Calibri"/>
              </a:rPr>
              <a:t>t</a:t>
            </a:r>
            <a:r>
              <a:rPr dirty="0" sz="3450" spc="-29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dirty="0" sz="3450" spc="-25">
                <a:solidFill>
                  <a:srgbClr val="F7F7F7"/>
                </a:solidFill>
                <a:latin typeface="Calibri"/>
                <a:cs typeface="Calibri"/>
              </a:rPr>
              <a:t>c</a:t>
            </a:r>
            <a:r>
              <a:rPr dirty="0" sz="3450" spc="-30">
                <a:solidFill>
                  <a:srgbClr val="F7F7F7"/>
                </a:solidFill>
                <a:latin typeface="Calibri"/>
                <a:cs typeface="Calibri"/>
              </a:rPr>
              <a:t>y</a:t>
            </a:r>
            <a:r>
              <a:rPr dirty="0" sz="3450" spc="-25">
                <a:solidFill>
                  <a:srgbClr val="F7F7F7"/>
                </a:solidFill>
                <a:latin typeface="Calibri"/>
                <a:cs typeface="Calibri"/>
              </a:rPr>
              <a:t>c</a:t>
            </a:r>
            <a:r>
              <a:rPr dirty="0" sz="3450" spc="-550">
                <a:solidFill>
                  <a:srgbClr val="F7F7F7"/>
                </a:solidFill>
                <a:latin typeface="Calibri"/>
                <a:cs typeface="Calibri"/>
              </a:rPr>
              <a:t>l</a:t>
            </a:r>
            <a:r>
              <a:rPr dirty="0" baseline="-2415" sz="5175" spc="-367">
                <a:solidFill>
                  <a:srgbClr val="332926"/>
                </a:solidFill>
                <a:latin typeface="Calibri"/>
                <a:cs typeface="Calibri"/>
              </a:rPr>
              <a:t>l</a:t>
            </a:r>
            <a:r>
              <a:rPr dirty="0" sz="3450" spc="-35">
                <a:solidFill>
                  <a:srgbClr val="F7F7F7"/>
                </a:solidFill>
                <a:latin typeface="Calibri"/>
                <a:cs typeface="Calibri"/>
              </a:rPr>
              <a:t>e</a:t>
            </a:r>
            <a:r>
              <a:rPr dirty="0" sz="3450" spc="50">
                <a:solidFill>
                  <a:srgbClr val="F7F7F7"/>
                </a:solidFill>
                <a:latin typeface="Calibri"/>
                <a:cs typeface="Calibri"/>
              </a:rPr>
              <a:t>s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355" y="7833211"/>
            <a:ext cx="6811009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 spc="-740">
                <a:solidFill>
                  <a:srgbClr val="F7F7F7"/>
                </a:solidFill>
                <a:latin typeface="Calibri"/>
                <a:cs typeface="Calibri"/>
              </a:rPr>
              <a:t>I</a:t>
            </a:r>
            <a:r>
              <a:rPr dirty="0" baseline="-2415" sz="5175" spc="-494">
                <a:solidFill>
                  <a:srgbClr val="332926"/>
                </a:solidFill>
                <a:latin typeface="Calibri"/>
                <a:cs typeface="Calibri"/>
              </a:rPr>
              <a:t>I</a:t>
            </a:r>
            <a:r>
              <a:rPr dirty="0" sz="3450" spc="-45">
                <a:solidFill>
                  <a:srgbClr val="F7F7F7"/>
                </a:solidFill>
                <a:latin typeface="Calibri"/>
                <a:cs typeface="Calibri"/>
              </a:rPr>
              <a:t>t</a:t>
            </a:r>
            <a:r>
              <a:rPr dirty="0" sz="3450" spc="-30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dirty="0" sz="3450" spc="-145">
                <a:solidFill>
                  <a:srgbClr val="F7F7F7"/>
                </a:solidFill>
                <a:latin typeface="Calibri"/>
                <a:cs typeface="Calibri"/>
              </a:rPr>
              <a:t>ac</a:t>
            </a:r>
            <a:r>
              <a:rPr dirty="0" sz="3450" spc="-165">
                <a:solidFill>
                  <a:srgbClr val="F7F7F7"/>
                </a:solidFill>
                <a:latin typeface="Calibri"/>
                <a:cs typeface="Calibri"/>
              </a:rPr>
              <a:t>h</a:t>
            </a:r>
            <a:r>
              <a:rPr dirty="0" sz="3450" spc="-685">
                <a:solidFill>
                  <a:srgbClr val="F7F7F7"/>
                </a:solidFill>
                <a:latin typeface="Calibri"/>
                <a:cs typeface="Calibri"/>
              </a:rPr>
              <a:t>i</a:t>
            </a:r>
            <a:r>
              <a:rPr dirty="0" baseline="-2415" sz="5175" spc="-509">
                <a:solidFill>
                  <a:srgbClr val="332926"/>
                </a:solidFill>
                <a:latin typeface="Calibri"/>
                <a:cs typeface="Calibri"/>
              </a:rPr>
              <a:t>i</a:t>
            </a:r>
            <a:r>
              <a:rPr dirty="0" sz="3450" spc="-155">
                <a:solidFill>
                  <a:srgbClr val="F7F7F7"/>
                </a:solidFill>
                <a:latin typeface="Calibri"/>
                <a:cs typeface="Calibri"/>
              </a:rPr>
              <a:t>eve</a:t>
            </a:r>
            <a:r>
              <a:rPr dirty="0" sz="3450" spc="-70">
                <a:solidFill>
                  <a:srgbClr val="F7F7F7"/>
                </a:solidFill>
                <a:latin typeface="Calibri"/>
                <a:cs typeface="Calibri"/>
              </a:rPr>
              <a:t>s</a:t>
            </a:r>
            <a:r>
              <a:rPr dirty="0" sz="3450" spc="-30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dirty="0" sz="3450" spc="-185">
                <a:solidFill>
                  <a:srgbClr val="F7F7F7"/>
                </a:solidFill>
                <a:latin typeface="Calibri"/>
                <a:cs typeface="Calibri"/>
              </a:rPr>
              <a:t>the</a:t>
            </a:r>
            <a:r>
              <a:rPr dirty="0" sz="3450" spc="-30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dirty="0" sz="3450" spc="-175" b="1">
                <a:solidFill>
                  <a:srgbClr val="E9913F"/>
                </a:solidFill>
                <a:latin typeface="Calibri"/>
                <a:cs typeface="Calibri"/>
              </a:rPr>
              <a:t>minimum</a:t>
            </a:r>
            <a:r>
              <a:rPr dirty="0" sz="3450" spc="-295" b="1">
                <a:solidFill>
                  <a:srgbClr val="E9913F"/>
                </a:solidFill>
                <a:latin typeface="Calibri"/>
                <a:cs typeface="Calibri"/>
              </a:rPr>
              <a:t> </a:t>
            </a:r>
            <a:r>
              <a:rPr dirty="0" sz="3450" spc="-130">
                <a:solidFill>
                  <a:srgbClr val="F7F7F7"/>
                </a:solidFill>
                <a:latin typeface="Calibri"/>
                <a:cs typeface="Calibri"/>
              </a:rPr>
              <a:t>t</a:t>
            </a:r>
            <a:r>
              <a:rPr dirty="0" sz="3450" spc="-140">
                <a:solidFill>
                  <a:srgbClr val="F7F7F7"/>
                </a:solidFill>
                <a:latin typeface="Calibri"/>
                <a:cs typeface="Calibri"/>
              </a:rPr>
              <a:t>o</a:t>
            </a:r>
            <a:r>
              <a:rPr dirty="0" sz="3450" spc="-130">
                <a:solidFill>
                  <a:srgbClr val="F7F7F7"/>
                </a:solidFill>
                <a:latin typeface="Calibri"/>
                <a:cs typeface="Calibri"/>
              </a:rPr>
              <a:t>ta</a:t>
            </a:r>
            <a:r>
              <a:rPr dirty="0" sz="3450" spc="-655">
                <a:solidFill>
                  <a:srgbClr val="F7F7F7"/>
                </a:solidFill>
                <a:latin typeface="Calibri"/>
                <a:cs typeface="Calibri"/>
              </a:rPr>
              <a:t>l</a:t>
            </a:r>
            <a:r>
              <a:rPr dirty="0" baseline="-2415" sz="5175" spc="-82">
                <a:solidFill>
                  <a:srgbClr val="332926"/>
                </a:solidFill>
                <a:latin typeface="Calibri"/>
                <a:cs typeface="Calibri"/>
              </a:rPr>
              <a:t>l</a:t>
            </a:r>
            <a:r>
              <a:rPr dirty="0" baseline="-2415" sz="5175" spc="-682">
                <a:solidFill>
                  <a:srgbClr val="332926"/>
                </a:solidFill>
                <a:latin typeface="Calibri"/>
                <a:cs typeface="Calibri"/>
              </a:rPr>
              <a:t> </a:t>
            </a:r>
            <a:r>
              <a:rPr dirty="0" sz="3450" spc="-135">
                <a:solidFill>
                  <a:srgbClr val="F7F7F7"/>
                </a:solidFill>
                <a:latin typeface="Calibri"/>
                <a:cs typeface="Calibri"/>
              </a:rPr>
              <a:t>edge</a:t>
            </a:r>
            <a:r>
              <a:rPr dirty="0" sz="3450" spc="-300">
                <a:solidFill>
                  <a:srgbClr val="F7F7F7"/>
                </a:solidFill>
                <a:latin typeface="Calibri"/>
                <a:cs typeface="Calibri"/>
              </a:rPr>
              <a:t> </a:t>
            </a:r>
            <a:r>
              <a:rPr dirty="0" sz="3450" spc="-105">
                <a:solidFill>
                  <a:srgbClr val="F7F7F7"/>
                </a:solidFill>
                <a:latin typeface="Calibri"/>
                <a:cs typeface="Calibri"/>
              </a:rPr>
              <a:t>w</a:t>
            </a:r>
            <a:r>
              <a:rPr dirty="0" sz="3450" spc="-110">
                <a:solidFill>
                  <a:srgbClr val="F7F7F7"/>
                </a:solidFill>
                <a:latin typeface="Calibri"/>
                <a:cs typeface="Calibri"/>
              </a:rPr>
              <a:t>e</a:t>
            </a:r>
            <a:r>
              <a:rPr dirty="0" sz="3450" spc="-640">
                <a:solidFill>
                  <a:srgbClr val="F7F7F7"/>
                </a:solidFill>
                <a:latin typeface="Calibri"/>
                <a:cs typeface="Calibri"/>
              </a:rPr>
              <a:t>i</a:t>
            </a:r>
            <a:r>
              <a:rPr dirty="0" baseline="-2415" sz="5175" spc="-442">
                <a:solidFill>
                  <a:srgbClr val="332926"/>
                </a:solidFill>
                <a:latin typeface="Calibri"/>
                <a:cs typeface="Calibri"/>
              </a:rPr>
              <a:t>i</a:t>
            </a:r>
            <a:r>
              <a:rPr dirty="0" sz="3450" spc="-100">
                <a:solidFill>
                  <a:srgbClr val="F7F7F7"/>
                </a:solidFill>
                <a:latin typeface="Calibri"/>
                <a:cs typeface="Calibri"/>
              </a:rPr>
              <a:t>g</a:t>
            </a:r>
            <a:r>
              <a:rPr dirty="0" sz="3450" spc="-120">
                <a:solidFill>
                  <a:srgbClr val="F7F7F7"/>
                </a:solidFill>
                <a:latin typeface="Calibri"/>
                <a:cs typeface="Calibri"/>
              </a:rPr>
              <a:t>h</a:t>
            </a:r>
            <a:r>
              <a:rPr dirty="0" sz="3450" spc="-25">
                <a:solidFill>
                  <a:srgbClr val="F7F7F7"/>
                </a:solidFill>
                <a:latin typeface="Calibri"/>
                <a:cs typeface="Calibri"/>
              </a:rPr>
              <a:t>t</a:t>
            </a:r>
            <a:endParaRPr sz="34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45598" y="1071334"/>
            <a:ext cx="6324599" cy="83629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404215" y="1107636"/>
            <a:ext cx="50101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0" spc="20" b="1">
                <a:solidFill>
                  <a:srgbClr val="F7F7F7"/>
                </a:solidFill>
                <a:latin typeface="Calibri"/>
                <a:cs typeface="Calibri"/>
              </a:rPr>
              <a:t>A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53776" y="3201093"/>
            <a:ext cx="478790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0" spc="150" b="1">
                <a:solidFill>
                  <a:srgbClr val="F7F7F7"/>
                </a:solidFill>
                <a:latin typeface="Calibri"/>
                <a:cs typeface="Calibri"/>
              </a:rPr>
              <a:t>B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932908" y="3201093"/>
            <a:ext cx="534670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0" spc="775" b="1">
                <a:solidFill>
                  <a:srgbClr val="F7F7F7"/>
                </a:solidFill>
                <a:latin typeface="Calibri"/>
                <a:cs typeface="Calibri"/>
              </a:rPr>
              <a:t>C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52246" y="6393991"/>
            <a:ext cx="519430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0" spc="25" b="1">
                <a:solidFill>
                  <a:srgbClr val="F7F7F7"/>
                </a:solidFill>
                <a:latin typeface="Calibri"/>
                <a:cs typeface="Calibri"/>
              </a:rPr>
              <a:t>D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464120" y="8095866"/>
            <a:ext cx="37274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0" spc="-50" b="1">
                <a:solidFill>
                  <a:srgbClr val="F7F7F7"/>
                </a:solidFill>
                <a:latin typeface="Calibri"/>
                <a:cs typeface="Calibri"/>
              </a:rPr>
              <a:t>F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974688" y="6393991"/>
            <a:ext cx="38798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0" spc="-50" b="1">
                <a:solidFill>
                  <a:srgbClr val="F7F7F7"/>
                </a:solidFill>
                <a:latin typeface="Calibri"/>
                <a:cs typeface="Calibri"/>
              </a:rPr>
              <a:t>E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80189" y="1921078"/>
            <a:ext cx="250825" cy="6184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900" spc="-150">
                <a:solidFill>
                  <a:srgbClr val="F7F7F7"/>
                </a:solidFill>
                <a:latin typeface="Calibri"/>
                <a:cs typeface="Calibri"/>
              </a:rPr>
              <a:t>4</a:t>
            </a:r>
            <a:endParaRPr sz="3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171335" y="1921078"/>
            <a:ext cx="258445" cy="6184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900" spc="-90">
                <a:solidFill>
                  <a:srgbClr val="F7F7F7"/>
                </a:solidFill>
                <a:latin typeface="Calibri"/>
                <a:cs typeface="Calibri"/>
              </a:rPr>
              <a:t>2</a:t>
            </a:r>
            <a:endParaRPr sz="3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582315" y="4963367"/>
            <a:ext cx="220979" cy="6184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900" spc="-505">
                <a:solidFill>
                  <a:srgbClr val="F7F7F7"/>
                </a:solidFill>
                <a:latin typeface="Calibri"/>
                <a:cs typeface="Calibri"/>
              </a:rPr>
              <a:t>7</a:t>
            </a:r>
            <a:endParaRPr sz="39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634189" y="4963367"/>
            <a:ext cx="242570" cy="6184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900" spc="-330">
                <a:solidFill>
                  <a:srgbClr val="F7F7F7"/>
                </a:solidFill>
                <a:latin typeface="Calibri"/>
                <a:cs typeface="Calibri"/>
              </a:rPr>
              <a:t>5</a:t>
            </a:r>
            <a:endParaRPr sz="3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389430" y="4963367"/>
            <a:ext cx="268605" cy="6184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900" spc="-50">
                <a:solidFill>
                  <a:srgbClr val="F7F7F7"/>
                </a:solidFill>
                <a:latin typeface="Calibri"/>
                <a:cs typeface="Calibri"/>
              </a:rPr>
              <a:t>8</a:t>
            </a:r>
            <a:endParaRPr sz="3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903071" y="7839988"/>
            <a:ext cx="258445" cy="6184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900" spc="-90">
                <a:solidFill>
                  <a:srgbClr val="F7F7F7"/>
                </a:solidFill>
                <a:latin typeface="Calibri"/>
                <a:cs typeface="Calibri"/>
              </a:rPr>
              <a:t>2</a:t>
            </a:r>
            <a:endParaRPr sz="3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148453" y="7839988"/>
            <a:ext cx="250825" cy="6184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900" spc="-150">
                <a:solidFill>
                  <a:srgbClr val="F7F7F7"/>
                </a:solidFill>
                <a:latin typeface="Calibri"/>
                <a:cs typeface="Calibri"/>
              </a:rPr>
              <a:t>4</a:t>
            </a:r>
            <a:endParaRPr sz="39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503254" y="4963367"/>
            <a:ext cx="273685" cy="6184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900" spc="-50">
                <a:solidFill>
                  <a:srgbClr val="F7F7F7"/>
                </a:solidFill>
                <a:latin typeface="Calibri"/>
                <a:cs typeface="Calibri"/>
              </a:rPr>
              <a:t>6</a:t>
            </a:r>
            <a:endParaRPr sz="3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538877" y="2990397"/>
            <a:ext cx="201295" cy="6184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900" spc="-665">
                <a:solidFill>
                  <a:srgbClr val="F7F7F7"/>
                </a:solidFill>
                <a:latin typeface="Calibri"/>
                <a:cs typeface="Calibri"/>
              </a:rPr>
              <a:t>1</a:t>
            </a:r>
            <a:endParaRPr sz="3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45870" y="347287"/>
            <a:ext cx="10928350" cy="25247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5880">
              <a:lnSpc>
                <a:spcPts val="9690"/>
              </a:lnSpc>
              <a:spcBef>
                <a:spcPts val="95"/>
              </a:spcBef>
            </a:pPr>
            <a:r>
              <a:rPr dirty="0" sz="8800" spc="-85" b="0">
                <a:solidFill>
                  <a:srgbClr val="F5F5F5"/>
                </a:solidFill>
                <a:latin typeface="Calibri"/>
                <a:cs typeface="Calibri"/>
              </a:rPr>
              <a:t>Applications</a:t>
            </a:r>
            <a:r>
              <a:rPr dirty="0" sz="8800" spc="-509" b="0">
                <a:solidFill>
                  <a:srgbClr val="F5F5F5"/>
                </a:solidFill>
                <a:latin typeface="Calibri"/>
                <a:cs typeface="Calibri"/>
              </a:rPr>
              <a:t> </a:t>
            </a:r>
            <a:r>
              <a:rPr dirty="0" sz="8800" spc="145" b="0">
                <a:solidFill>
                  <a:srgbClr val="F5F5F5"/>
                </a:solidFill>
                <a:latin typeface="Calibri"/>
                <a:cs typeface="Calibri"/>
              </a:rPr>
              <a:t>of</a:t>
            </a:r>
            <a:endParaRPr sz="8800">
              <a:latin typeface="Calibri"/>
              <a:cs typeface="Calibri"/>
            </a:endParaRPr>
          </a:p>
          <a:p>
            <a:pPr marL="12700">
              <a:lnSpc>
                <a:spcPts val="9990"/>
              </a:lnSpc>
            </a:pPr>
            <a:r>
              <a:rPr dirty="0" sz="9050" spc="-415" b="0">
                <a:solidFill>
                  <a:srgbClr val="E17836"/>
                </a:solidFill>
                <a:latin typeface="Calibri"/>
                <a:cs typeface="Calibri"/>
              </a:rPr>
              <a:t>Minimum</a:t>
            </a:r>
            <a:r>
              <a:rPr dirty="0" sz="9050" spc="-545" b="0">
                <a:solidFill>
                  <a:srgbClr val="E17836"/>
                </a:solidFill>
                <a:latin typeface="Calibri"/>
                <a:cs typeface="Calibri"/>
              </a:rPr>
              <a:t> </a:t>
            </a:r>
            <a:r>
              <a:rPr dirty="0" sz="9050" spc="-125" b="0">
                <a:solidFill>
                  <a:srgbClr val="E17836"/>
                </a:solidFill>
                <a:latin typeface="Calibri"/>
                <a:cs typeface="Calibri"/>
              </a:rPr>
              <a:t>Spanning</a:t>
            </a:r>
            <a:r>
              <a:rPr dirty="0" sz="9050" spc="-540" b="0">
                <a:solidFill>
                  <a:srgbClr val="E17836"/>
                </a:solidFill>
                <a:latin typeface="Calibri"/>
                <a:cs typeface="Calibri"/>
              </a:rPr>
              <a:t> </a:t>
            </a:r>
            <a:r>
              <a:rPr dirty="0" sz="9050" spc="-20" b="0">
                <a:solidFill>
                  <a:srgbClr val="E17836"/>
                </a:solidFill>
                <a:latin typeface="Calibri"/>
                <a:cs typeface="Calibri"/>
              </a:rPr>
              <a:t>Tree</a:t>
            </a:r>
            <a:endParaRPr sz="9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0494" y="6019479"/>
            <a:ext cx="2634615" cy="103822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5080" indent="1078865">
              <a:lnSpc>
                <a:spcPts val="3940"/>
              </a:lnSpc>
              <a:spcBef>
                <a:spcPts val="290"/>
              </a:spcBef>
            </a:pPr>
            <a:r>
              <a:rPr dirty="0" sz="3350" spc="-70">
                <a:solidFill>
                  <a:srgbClr val="F5F5F5"/>
                </a:solidFill>
                <a:latin typeface="Calibri"/>
                <a:cs typeface="Calibri"/>
              </a:rPr>
              <a:t>Road</a:t>
            </a:r>
            <a:r>
              <a:rPr dirty="0" sz="3350" spc="-170">
                <a:solidFill>
                  <a:srgbClr val="F5F5F5"/>
                </a:solidFill>
                <a:latin typeface="Calibri"/>
                <a:cs typeface="Calibri"/>
              </a:rPr>
              <a:t> </a:t>
            </a:r>
            <a:r>
              <a:rPr dirty="0" sz="3350" spc="-135">
                <a:solidFill>
                  <a:srgbClr val="F5F5F5"/>
                </a:solidFill>
                <a:latin typeface="Calibri"/>
                <a:cs typeface="Calibri"/>
              </a:rPr>
              <a:t>and</a:t>
            </a:r>
            <a:r>
              <a:rPr dirty="0" sz="3350" spc="-135">
                <a:solidFill>
                  <a:srgbClr val="F5F5F5"/>
                </a:solidFill>
                <a:latin typeface="Calibri"/>
                <a:cs typeface="Calibri"/>
              </a:rPr>
              <a:t> </a:t>
            </a:r>
            <a:r>
              <a:rPr dirty="0" sz="3350" spc="-65">
                <a:solidFill>
                  <a:srgbClr val="F5F5F5"/>
                </a:solidFill>
                <a:latin typeface="Calibri"/>
                <a:cs typeface="Calibri"/>
              </a:rPr>
              <a:t>ra</a:t>
            </a:r>
            <a:r>
              <a:rPr dirty="0" sz="3350" spc="-665">
                <a:solidFill>
                  <a:srgbClr val="F5F5F5"/>
                </a:solidFill>
                <a:latin typeface="Calibri"/>
                <a:cs typeface="Calibri"/>
              </a:rPr>
              <a:t>i</a:t>
            </a:r>
            <a:r>
              <a:rPr dirty="0" baseline="-2487" sz="5025" spc="-367">
                <a:solidFill>
                  <a:srgbClr val="E17836"/>
                </a:solidFill>
                <a:latin typeface="Calibri"/>
                <a:cs typeface="Calibri"/>
              </a:rPr>
              <a:t>i</a:t>
            </a:r>
            <a:r>
              <a:rPr dirty="0" sz="3350" spc="-650">
                <a:solidFill>
                  <a:srgbClr val="F5F5F5"/>
                </a:solidFill>
                <a:latin typeface="Calibri"/>
                <a:cs typeface="Calibri"/>
              </a:rPr>
              <a:t>l</a:t>
            </a:r>
            <a:r>
              <a:rPr dirty="0" baseline="-2487" sz="5025" spc="-390">
                <a:solidFill>
                  <a:srgbClr val="E17836"/>
                </a:solidFill>
                <a:latin typeface="Calibri"/>
                <a:cs typeface="Calibri"/>
              </a:rPr>
              <a:t>l</a:t>
            </a:r>
            <a:r>
              <a:rPr dirty="0" sz="3350" spc="-70">
                <a:solidFill>
                  <a:srgbClr val="F5F5F5"/>
                </a:solidFill>
                <a:latin typeface="Calibri"/>
                <a:cs typeface="Calibri"/>
              </a:rPr>
              <a:t>w</a:t>
            </a:r>
            <a:r>
              <a:rPr dirty="0" sz="3350" spc="-65">
                <a:solidFill>
                  <a:srgbClr val="F5F5F5"/>
                </a:solidFill>
                <a:latin typeface="Calibri"/>
                <a:cs typeface="Calibri"/>
              </a:rPr>
              <a:t>a</a:t>
            </a:r>
            <a:r>
              <a:rPr dirty="0" sz="3350" spc="-60">
                <a:solidFill>
                  <a:srgbClr val="F5F5F5"/>
                </a:solidFill>
                <a:latin typeface="Calibri"/>
                <a:cs typeface="Calibri"/>
              </a:rPr>
              <a:t>y</a:t>
            </a:r>
            <a:r>
              <a:rPr dirty="0" sz="3350" spc="-105">
                <a:solidFill>
                  <a:srgbClr val="F5F5F5"/>
                </a:solidFill>
                <a:latin typeface="Calibri"/>
                <a:cs typeface="Calibri"/>
              </a:rPr>
              <a:t> </a:t>
            </a:r>
            <a:r>
              <a:rPr dirty="0" sz="3350" spc="-145">
                <a:solidFill>
                  <a:srgbClr val="F5F5F5"/>
                </a:solidFill>
                <a:latin typeface="Calibri"/>
                <a:cs typeface="Calibri"/>
              </a:rPr>
              <a:t>p</a:t>
            </a:r>
            <a:r>
              <a:rPr dirty="0" sz="3350" spc="-725">
                <a:solidFill>
                  <a:srgbClr val="F5F5F5"/>
                </a:solidFill>
                <a:latin typeface="Calibri"/>
                <a:cs typeface="Calibri"/>
              </a:rPr>
              <a:t>l</a:t>
            </a:r>
            <a:r>
              <a:rPr dirty="0" baseline="-2487" sz="5025" spc="-502">
                <a:solidFill>
                  <a:srgbClr val="E17836"/>
                </a:solidFill>
                <a:latin typeface="Calibri"/>
                <a:cs typeface="Calibri"/>
              </a:rPr>
              <a:t>l</a:t>
            </a:r>
            <a:r>
              <a:rPr dirty="0" sz="3350" spc="-140">
                <a:solidFill>
                  <a:srgbClr val="F5F5F5"/>
                </a:solidFill>
                <a:latin typeface="Calibri"/>
                <a:cs typeface="Calibri"/>
              </a:rPr>
              <a:t>a</a:t>
            </a:r>
            <a:r>
              <a:rPr dirty="0" sz="3350" spc="-145">
                <a:solidFill>
                  <a:srgbClr val="F5F5F5"/>
                </a:solidFill>
                <a:latin typeface="Calibri"/>
                <a:cs typeface="Calibri"/>
              </a:rPr>
              <a:t>nn</a:t>
            </a:r>
            <a:r>
              <a:rPr dirty="0" sz="3350" spc="-740">
                <a:solidFill>
                  <a:srgbClr val="F5F5F5"/>
                </a:solidFill>
                <a:latin typeface="Calibri"/>
                <a:cs typeface="Calibri"/>
              </a:rPr>
              <a:t>i</a:t>
            </a:r>
            <a:r>
              <a:rPr dirty="0" baseline="-2487" sz="5025" spc="-480">
                <a:solidFill>
                  <a:srgbClr val="E17836"/>
                </a:solidFill>
                <a:latin typeface="Calibri"/>
                <a:cs typeface="Calibri"/>
              </a:rPr>
              <a:t>i</a:t>
            </a:r>
            <a:r>
              <a:rPr dirty="0" sz="3350" spc="-145">
                <a:solidFill>
                  <a:srgbClr val="F5F5F5"/>
                </a:solidFill>
                <a:latin typeface="Calibri"/>
                <a:cs typeface="Calibri"/>
              </a:rPr>
              <a:t>n</a:t>
            </a:r>
            <a:r>
              <a:rPr dirty="0" sz="3350" spc="-135">
                <a:solidFill>
                  <a:srgbClr val="F5F5F5"/>
                </a:solidFill>
                <a:latin typeface="Calibri"/>
                <a:cs typeface="Calibri"/>
              </a:rPr>
              <a:t>g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9986" y="8127998"/>
            <a:ext cx="2614930" cy="5384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50" spc="-55">
                <a:solidFill>
                  <a:srgbClr val="F5F5F5"/>
                </a:solidFill>
                <a:latin typeface="Calibri"/>
                <a:cs typeface="Calibri"/>
              </a:rPr>
              <a:t>E</a:t>
            </a:r>
            <a:r>
              <a:rPr dirty="0" sz="3350" spc="-635">
                <a:solidFill>
                  <a:srgbClr val="F5F5F5"/>
                </a:solidFill>
                <a:latin typeface="Calibri"/>
                <a:cs typeface="Calibri"/>
              </a:rPr>
              <a:t>l</a:t>
            </a:r>
            <a:r>
              <a:rPr dirty="0" baseline="-2487" sz="5025" spc="-367">
                <a:solidFill>
                  <a:srgbClr val="E17836"/>
                </a:solidFill>
                <a:latin typeface="Calibri"/>
                <a:cs typeface="Calibri"/>
              </a:rPr>
              <a:t>l</a:t>
            </a:r>
            <a:r>
              <a:rPr dirty="0" sz="3350" spc="-55">
                <a:solidFill>
                  <a:srgbClr val="F5F5F5"/>
                </a:solidFill>
                <a:latin typeface="Calibri"/>
                <a:cs typeface="Calibri"/>
              </a:rPr>
              <a:t>e</a:t>
            </a:r>
            <a:r>
              <a:rPr dirty="0" sz="3350" spc="-50">
                <a:solidFill>
                  <a:srgbClr val="F5F5F5"/>
                </a:solidFill>
                <a:latin typeface="Calibri"/>
                <a:cs typeface="Calibri"/>
              </a:rPr>
              <a:t>ctr</a:t>
            </a:r>
            <a:r>
              <a:rPr dirty="0" sz="3350" spc="-650">
                <a:solidFill>
                  <a:srgbClr val="F5F5F5"/>
                </a:solidFill>
                <a:latin typeface="Calibri"/>
                <a:cs typeface="Calibri"/>
              </a:rPr>
              <a:t>i</a:t>
            </a:r>
            <a:r>
              <a:rPr dirty="0" baseline="-2487" sz="5025" spc="-345">
                <a:solidFill>
                  <a:srgbClr val="E17836"/>
                </a:solidFill>
                <a:latin typeface="Calibri"/>
                <a:cs typeface="Calibri"/>
              </a:rPr>
              <a:t>i</a:t>
            </a:r>
            <a:r>
              <a:rPr dirty="0" sz="3350" spc="-50">
                <a:solidFill>
                  <a:srgbClr val="F5F5F5"/>
                </a:solidFill>
                <a:latin typeface="Calibri"/>
                <a:cs typeface="Calibri"/>
              </a:rPr>
              <a:t>ca</a:t>
            </a:r>
            <a:r>
              <a:rPr dirty="0" sz="3350" spc="-635">
                <a:solidFill>
                  <a:srgbClr val="F5F5F5"/>
                </a:solidFill>
                <a:latin typeface="Calibri"/>
                <a:cs typeface="Calibri"/>
              </a:rPr>
              <a:t>l</a:t>
            </a:r>
            <a:r>
              <a:rPr dirty="0" baseline="-2487" sz="5025" spc="-67">
                <a:solidFill>
                  <a:srgbClr val="E17836"/>
                </a:solidFill>
                <a:latin typeface="Calibri"/>
                <a:cs typeface="Calibri"/>
              </a:rPr>
              <a:t>l</a:t>
            </a:r>
            <a:r>
              <a:rPr dirty="0" baseline="-2487" sz="5025" spc="-352">
                <a:solidFill>
                  <a:srgbClr val="E17836"/>
                </a:solidFill>
                <a:latin typeface="Calibri"/>
                <a:cs typeface="Calibri"/>
              </a:rPr>
              <a:t> </a:t>
            </a:r>
            <a:r>
              <a:rPr dirty="0" sz="3350" spc="-95">
                <a:solidFill>
                  <a:srgbClr val="F5F5F5"/>
                </a:solidFill>
                <a:latin typeface="Calibri"/>
                <a:cs typeface="Calibri"/>
              </a:rPr>
              <a:t>w</a:t>
            </a:r>
            <a:r>
              <a:rPr dirty="0" sz="3350" spc="-690">
                <a:solidFill>
                  <a:srgbClr val="F5F5F5"/>
                </a:solidFill>
                <a:latin typeface="Calibri"/>
                <a:cs typeface="Calibri"/>
              </a:rPr>
              <a:t>i</a:t>
            </a:r>
            <a:r>
              <a:rPr dirty="0" baseline="-2487" sz="5025" spc="-405">
                <a:solidFill>
                  <a:srgbClr val="E17836"/>
                </a:solidFill>
                <a:latin typeface="Calibri"/>
                <a:cs typeface="Calibri"/>
              </a:rPr>
              <a:t>i</a:t>
            </a:r>
            <a:r>
              <a:rPr dirty="0" sz="3350" spc="-90">
                <a:solidFill>
                  <a:srgbClr val="F5F5F5"/>
                </a:solidFill>
                <a:latin typeface="Calibri"/>
                <a:cs typeface="Calibri"/>
              </a:rPr>
              <a:t>r</a:t>
            </a:r>
            <a:r>
              <a:rPr dirty="0" sz="3350" spc="-690">
                <a:solidFill>
                  <a:srgbClr val="F5F5F5"/>
                </a:solidFill>
                <a:latin typeface="Calibri"/>
                <a:cs typeface="Calibri"/>
              </a:rPr>
              <a:t>i</a:t>
            </a:r>
            <a:r>
              <a:rPr dirty="0" baseline="-2487" sz="5025" spc="-405">
                <a:solidFill>
                  <a:srgbClr val="E17836"/>
                </a:solidFill>
                <a:latin typeface="Calibri"/>
                <a:cs typeface="Calibri"/>
              </a:rPr>
              <a:t>i</a:t>
            </a:r>
            <a:r>
              <a:rPr dirty="0" sz="3350" spc="-95">
                <a:solidFill>
                  <a:srgbClr val="F5F5F5"/>
                </a:solidFill>
                <a:latin typeface="Calibri"/>
                <a:cs typeface="Calibri"/>
              </a:rPr>
              <a:t>n</a:t>
            </a:r>
            <a:r>
              <a:rPr dirty="0" sz="3350" spc="-85">
                <a:solidFill>
                  <a:srgbClr val="F5F5F5"/>
                </a:solidFill>
                <a:latin typeface="Calibri"/>
                <a:cs typeface="Calibri"/>
              </a:rPr>
              <a:t>g</a:t>
            </a:r>
            <a:endParaRPr sz="33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915731" y="3640351"/>
            <a:ext cx="10021570" cy="5574030"/>
            <a:chOff x="3915731" y="3640351"/>
            <a:chExt cx="10021570" cy="557403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15731" y="4066699"/>
              <a:ext cx="1752599" cy="51471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36086" y="4493046"/>
              <a:ext cx="1533524" cy="657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36086" y="6428008"/>
              <a:ext cx="885824" cy="2190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36086" y="7707051"/>
              <a:ext cx="1533524" cy="8762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29865" y="3640351"/>
              <a:ext cx="5010149" cy="55721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75196" y="4493046"/>
              <a:ext cx="3495674" cy="36480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403463" y="3640351"/>
              <a:ext cx="1533524" cy="17240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403463" y="5564381"/>
              <a:ext cx="1533524" cy="17240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403463" y="7499343"/>
              <a:ext cx="1533524" cy="17144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883109" y="4285339"/>
              <a:ext cx="1533524" cy="8667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528440" y="6209368"/>
              <a:ext cx="885824" cy="43814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883109" y="7707051"/>
              <a:ext cx="1533524" cy="87629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4268499" y="3669989"/>
            <a:ext cx="2369820" cy="103822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5080">
              <a:lnSpc>
                <a:spcPts val="3940"/>
              </a:lnSpc>
              <a:spcBef>
                <a:spcPts val="290"/>
              </a:spcBef>
            </a:pPr>
            <a:r>
              <a:rPr dirty="0" sz="3350" spc="-90">
                <a:solidFill>
                  <a:srgbClr val="F5F5F5"/>
                </a:solidFill>
                <a:latin typeface="Calibri"/>
                <a:cs typeface="Calibri"/>
              </a:rPr>
              <a:t>Water</a:t>
            </a:r>
            <a:r>
              <a:rPr dirty="0" sz="3350" spc="-145">
                <a:solidFill>
                  <a:srgbClr val="F5F5F5"/>
                </a:solidFill>
                <a:latin typeface="Calibri"/>
                <a:cs typeface="Calibri"/>
              </a:rPr>
              <a:t> </a:t>
            </a:r>
            <a:r>
              <a:rPr dirty="0" sz="3350" spc="-130">
                <a:solidFill>
                  <a:srgbClr val="F5F5F5"/>
                </a:solidFill>
                <a:latin typeface="Calibri"/>
                <a:cs typeface="Calibri"/>
              </a:rPr>
              <a:t>p</a:t>
            </a:r>
            <a:r>
              <a:rPr dirty="0" sz="3350" spc="-725">
                <a:solidFill>
                  <a:srgbClr val="F5F5F5"/>
                </a:solidFill>
                <a:latin typeface="Calibri"/>
                <a:cs typeface="Calibri"/>
              </a:rPr>
              <a:t>i</a:t>
            </a:r>
            <a:r>
              <a:rPr dirty="0" baseline="-2487" sz="5025" spc="-457">
                <a:solidFill>
                  <a:srgbClr val="E17836"/>
                </a:solidFill>
                <a:latin typeface="Calibri"/>
                <a:cs typeface="Calibri"/>
              </a:rPr>
              <a:t>i</a:t>
            </a:r>
            <a:r>
              <a:rPr dirty="0" sz="3350" spc="-130">
                <a:solidFill>
                  <a:srgbClr val="F5F5F5"/>
                </a:solidFill>
                <a:latin typeface="Calibri"/>
                <a:cs typeface="Calibri"/>
              </a:rPr>
              <a:t>pe</a:t>
            </a:r>
            <a:r>
              <a:rPr dirty="0" sz="3350" spc="-710">
                <a:solidFill>
                  <a:srgbClr val="F5F5F5"/>
                </a:solidFill>
                <a:latin typeface="Calibri"/>
                <a:cs typeface="Calibri"/>
              </a:rPr>
              <a:t>l</a:t>
            </a:r>
            <a:r>
              <a:rPr dirty="0" baseline="-2487" sz="5025" spc="-480">
                <a:solidFill>
                  <a:srgbClr val="E17836"/>
                </a:solidFill>
                <a:latin typeface="Calibri"/>
                <a:cs typeface="Calibri"/>
              </a:rPr>
              <a:t>l</a:t>
            </a:r>
            <a:r>
              <a:rPr dirty="0" sz="3350" spc="-725">
                <a:solidFill>
                  <a:srgbClr val="F5F5F5"/>
                </a:solidFill>
                <a:latin typeface="Calibri"/>
                <a:cs typeface="Calibri"/>
              </a:rPr>
              <a:t>i</a:t>
            </a:r>
            <a:r>
              <a:rPr dirty="0" baseline="-2487" sz="5025" spc="-457">
                <a:solidFill>
                  <a:srgbClr val="E17836"/>
                </a:solidFill>
                <a:latin typeface="Calibri"/>
                <a:cs typeface="Calibri"/>
              </a:rPr>
              <a:t>i</a:t>
            </a:r>
            <a:r>
              <a:rPr dirty="0" sz="3350" spc="-130">
                <a:solidFill>
                  <a:srgbClr val="F5F5F5"/>
                </a:solidFill>
                <a:latin typeface="Calibri"/>
                <a:cs typeface="Calibri"/>
              </a:rPr>
              <a:t>n</a:t>
            </a:r>
            <a:r>
              <a:rPr dirty="0" sz="3350" spc="-120">
                <a:solidFill>
                  <a:srgbClr val="F5F5F5"/>
                </a:solidFill>
                <a:latin typeface="Calibri"/>
                <a:cs typeface="Calibri"/>
              </a:rPr>
              <a:t>e</a:t>
            </a:r>
            <a:r>
              <a:rPr dirty="0" sz="3350" spc="-340">
                <a:solidFill>
                  <a:srgbClr val="F5F5F5"/>
                </a:solidFill>
                <a:latin typeface="Calibri"/>
                <a:cs typeface="Calibri"/>
              </a:rPr>
              <a:t> </a:t>
            </a:r>
            <a:r>
              <a:rPr dirty="0" sz="3350" spc="-10">
                <a:solidFill>
                  <a:srgbClr val="F5F5F5"/>
                </a:solidFill>
                <a:latin typeface="Calibri"/>
                <a:cs typeface="Calibri"/>
              </a:rPr>
              <a:t>systems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259721" y="6078475"/>
            <a:ext cx="3220085" cy="51815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-95">
                <a:solidFill>
                  <a:srgbClr val="F5F5F5"/>
                </a:solidFill>
                <a:latin typeface="Calibri"/>
                <a:cs typeface="Calibri"/>
              </a:rPr>
              <a:t>Te</a:t>
            </a:r>
            <a:r>
              <a:rPr dirty="0" sz="3200" spc="-655">
                <a:solidFill>
                  <a:srgbClr val="F5F5F5"/>
                </a:solidFill>
                <a:latin typeface="Calibri"/>
                <a:cs typeface="Calibri"/>
              </a:rPr>
              <a:t>l</a:t>
            </a:r>
            <a:r>
              <a:rPr dirty="0" baseline="-2604" sz="4800" spc="-427">
                <a:solidFill>
                  <a:srgbClr val="E17836"/>
                </a:solidFill>
                <a:latin typeface="Calibri"/>
                <a:cs typeface="Calibri"/>
              </a:rPr>
              <a:t>l</a:t>
            </a:r>
            <a:r>
              <a:rPr dirty="0" sz="3200" spc="-95">
                <a:solidFill>
                  <a:srgbClr val="F5F5F5"/>
                </a:solidFill>
                <a:latin typeface="Calibri"/>
                <a:cs typeface="Calibri"/>
              </a:rPr>
              <a:t>ecommun</a:t>
            </a:r>
            <a:r>
              <a:rPr dirty="0" sz="3200" spc="-670">
                <a:solidFill>
                  <a:srgbClr val="F5F5F5"/>
                </a:solidFill>
                <a:latin typeface="Calibri"/>
                <a:cs typeface="Calibri"/>
              </a:rPr>
              <a:t>i</a:t>
            </a:r>
            <a:r>
              <a:rPr dirty="0" baseline="-2604" sz="4800" spc="-405">
                <a:solidFill>
                  <a:srgbClr val="E17836"/>
                </a:solidFill>
                <a:latin typeface="Calibri"/>
                <a:cs typeface="Calibri"/>
              </a:rPr>
              <a:t>i</a:t>
            </a:r>
            <a:r>
              <a:rPr dirty="0" sz="3200" spc="-95">
                <a:solidFill>
                  <a:srgbClr val="F5F5F5"/>
                </a:solidFill>
                <a:latin typeface="Calibri"/>
                <a:cs typeface="Calibri"/>
              </a:rPr>
              <a:t>cat</a:t>
            </a:r>
            <a:r>
              <a:rPr dirty="0" sz="3200" spc="-670">
                <a:solidFill>
                  <a:srgbClr val="F5F5F5"/>
                </a:solidFill>
                <a:latin typeface="Calibri"/>
                <a:cs typeface="Calibri"/>
              </a:rPr>
              <a:t>i</a:t>
            </a:r>
            <a:r>
              <a:rPr dirty="0" baseline="-2604" sz="4800" spc="-405">
                <a:solidFill>
                  <a:srgbClr val="E17836"/>
                </a:solidFill>
                <a:latin typeface="Calibri"/>
                <a:cs typeface="Calibri"/>
              </a:rPr>
              <a:t>i</a:t>
            </a:r>
            <a:r>
              <a:rPr dirty="0" sz="3200" spc="-95">
                <a:solidFill>
                  <a:srgbClr val="F5F5F5"/>
                </a:solidFill>
                <a:latin typeface="Calibri"/>
                <a:cs typeface="Calibri"/>
              </a:rPr>
              <a:t>ons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275517" y="7826781"/>
            <a:ext cx="1689100" cy="103822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5080">
              <a:lnSpc>
                <a:spcPts val="3940"/>
              </a:lnSpc>
              <a:spcBef>
                <a:spcPts val="290"/>
              </a:spcBef>
            </a:pPr>
            <a:r>
              <a:rPr dirty="0" sz="3350" spc="-80">
                <a:solidFill>
                  <a:srgbClr val="F5F5F5"/>
                </a:solidFill>
                <a:latin typeface="Calibri"/>
                <a:cs typeface="Calibri"/>
              </a:rPr>
              <a:t>Computer</a:t>
            </a:r>
            <a:r>
              <a:rPr dirty="0" sz="3350" spc="-80">
                <a:solidFill>
                  <a:srgbClr val="F5F5F5"/>
                </a:solidFill>
                <a:latin typeface="Calibri"/>
                <a:cs typeface="Calibri"/>
              </a:rPr>
              <a:t> </a:t>
            </a:r>
            <a:r>
              <a:rPr dirty="0" sz="3350" spc="-10">
                <a:solidFill>
                  <a:srgbClr val="F5F5F5"/>
                </a:solidFill>
                <a:latin typeface="Calibri"/>
                <a:cs typeface="Calibri"/>
              </a:rPr>
              <a:t>networks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763895">
              <a:lnSpc>
                <a:spcPct val="105000"/>
              </a:lnSpc>
              <a:spcBef>
                <a:spcPts val="100"/>
              </a:spcBef>
            </a:pPr>
            <a:r>
              <a:rPr dirty="0" spc="-100"/>
              <a:t>MST</a:t>
            </a:r>
            <a:r>
              <a:rPr dirty="0" spc="-125"/>
              <a:t> </a:t>
            </a:r>
            <a:r>
              <a:rPr dirty="0" spc="-90"/>
              <a:t>connects</a:t>
            </a:r>
            <a:r>
              <a:rPr dirty="0" spc="-125"/>
              <a:t> </a:t>
            </a:r>
            <a:r>
              <a:rPr dirty="0" spc="-75"/>
              <a:t>a</a:t>
            </a:r>
            <a:r>
              <a:rPr dirty="0" spc="-580"/>
              <a:t>l</a:t>
            </a:r>
            <a:r>
              <a:rPr dirty="0" baseline="-2873" sz="4350" spc="-367">
                <a:solidFill>
                  <a:srgbClr val="E17836"/>
                </a:solidFill>
              </a:rPr>
              <a:t>l</a:t>
            </a:r>
            <a:r>
              <a:rPr dirty="0" sz="2900" spc="-580"/>
              <a:t>l</a:t>
            </a:r>
            <a:r>
              <a:rPr dirty="0" baseline="-2873" sz="4350" spc="-104">
                <a:solidFill>
                  <a:srgbClr val="E17836"/>
                </a:solidFill>
              </a:rPr>
              <a:t>l</a:t>
            </a:r>
            <a:r>
              <a:rPr dirty="0" baseline="-2873" sz="4350" spc="-390">
                <a:solidFill>
                  <a:srgbClr val="E17836"/>
                </a:solidFill>
              </a:rPr>
              <a:t> </a:t>
            </a:r>
            <a:r>
              <a:rPr dirty="0" sz="2900" spc="-560"/>
              <a:t>l</a:t>
            </a:r>
            <a:r>
              <a:rPr dirty="0" baseline="-2873" sz="4350" spc="-337">
                <a:solidFill>
                  <a:srgbClr val="E17836"/>
                </a:solidFill>
              </a:rPr>
              <a:t>l</a:t>
            </a:r>
            <a:r>
              <a:rPr dirty="0" sz="2900" spc="-60"/>
              <a:t>o</a:t>
            </a:r>
            <a:r>
              <a:rPr dirty="0" sz="2900" spc="-55"/>
              <a:t>cat</a:t>
            </a:r>
            <a:r>
              <a:rPr dirty="0" sz="2900" spc="-565"/>
              <a:t>i</a:t>
            </a:r>
            <a:r>
              <a:rPr dirty="0" baseline="-2873" sz="4350" spc="-315">
                <a:solidFill>
                  <a:srgbClr val="E17836"/>
                </a:solidFill>
              </a:rPr>
              <a:t>i</a:t>
            </a:r>
            <a:r>
              <a:rPr dirty="0" sz="2900" spc="-60"/>
              <a:t>on</a:t>
            </a:r>
            <a:r>
              <a:rPr dirty="0" sz="2900" spc="-50"/>
              <a:t>s</a:t>
            </a:r>
            <a:r>
              <a:rPr dirty="0" sz="2900" spc="-180"/>
              <a:t> </a:t>
            </a:r>
            <a:r>
              <a:rPr dirty="0" sz="2900" spc="-120"/>
              <a:t>w</a:t>
            </a:r>
            <a:r>
              <a:rPr dirty="0" sz="2900" spc="-625"/>
              <a:t>i</a:t>
            </a:r>
            <a:r>
              <a:rPr dirty="0" baseline="-2873" sz="4350" spc="-405">
                <a:solidFill>
                  <a:srgbClr val="E17836"/>
                </a:solidFill>
              </a:rPr>
              <a:t>i</a:t>
            </a:r>
            <a:r>
              <a:rPr dirty="0" sz="2900" spc="-114"/>
              <a:t>t</a:t>
            </a:r>
            <a:r>
              <a:rPr dirty="0" sz="2900" spc="-110"/>
              <a:t>h</a:t>
            </a:r>
            <a:r>
              <a:rPr dirty="0" sz="2900" spc="-135"/>
              <a:t> </a:t>
            </a:r>
            <a:r>
              <a:rPr dirty="0" sz="2900" spc="-140"/>
              <a:t>the</a:t>
            </a:r>
            <a:r>
              <a:rPr dirty="0" sz="2900" spc="-130"/>
              <a:t> </a:t>
            </a:r>
            <a:r>
              <a:rPr dirty="0" sz="2900" spc="-550"/>
              <a:t>l</a:t>
            </a:r>
            <a:r>
              <a:rPr dirty="0" baseline="-2873" sz="4350" spc="-322">
                <a:solidFill>
                  <a:srgbClr val="E17836"/>
                </a:solidFill>
              </a:rPr>
              <a:t>l</a:t>
            </a:r>
            <a:r>
              <a:rPr dirty="0" sz="2900" spc="-50"/>
              <a:t>e</a:t>
            </a:r>
            <a:r>
              <a:rPr dirty="0" sz="2900" spc="-45"/>
              <a:t>as</a:t>
            </a:r>
            <a:r>
              <a:rPr dirty="0" sz="2900" spc="-40"/>
              <a:t>t</a:t>
            </a:r>
            <a:r>
              <a:rPr dirty="0" sz="2900" spc="-130"/>
              <a:t> </a:t>
            </a:r>
            <a:r>
              <a:rPr dirty="0" sz="2900" spc="-65"/>
              <a:t>t</a:t>
            </a:r>
            <a:r>
              <a:rPr dirty="0" sz="2900" spc="-70"/>
              <a:t>o</a:t>
            </a:r>
            <a:r>
              <a:rPr dirty="0" sz="2900" spc="-65"/>
              <a:t>ta</a:t>
            </a:r>
            <a:r>
              <a:rPr dirty="0" sz="2900" spc="-570"/>
              <a:t>l</a:t>
            </a:r>
            <a:r>
              <a:rPr dirty="0" baseline="-2873" sz="4350" spc="-89">
                <a:solidFill>
                  <a:srgbClr val="E17836"/>
                </a:solidFill>
              </a:rPr>
              <a:t>l</a:t>
            </a:r>
            <a:r>
              <a:rPr dirty="0" baseline="-2873" sz="4350" spc="-397">
                <a:solidFill>
                  <a:srgbClr val="E17836"/>
                </a:solidFill>
              </a:rPr>
              <a:t> </a:t>
            </a:r>
            <a:r>
              <a:rPr dirty="0" sz="2900" spc="85"/>
              <a:t>c</a:t>
            </a:r>
            <a:r>
              <a:rPr dirty="0" sz="2900" spc="80"/>
              <a:t>o</a:t>
            </a:r>
            <a:r>
              <a:rPr dirty="0" sz="2900" spc="85"/>
              <a:t>st</a:t>
            </a:r>
            <a:r>
              <a:rPr dirty="0" sz="2900" spc="-490"/>
              <a:t>.</a:t>
            </a:r>
            <a:r>
              <a:rPr dirty="0" baseline="-2873" sz="4350" spc="135">
                <a:solidFill>
                  <a:srgbClr val="E17836"/>
                </a:solidFill>
              </a:rPr>
              <a:t>.</a:t>
            </a:r>
            <a:endParaRPr baseline="-2873" sz="4350"/>
          </a:p>
          <a:p>
            <a:pPr marL="8239125">
              <a:lnSpc>
                <a:spcPts val="3200"/>
              </a:lnSpc>
              <a:spcBef>
                <a:spcPts val="2039"/>
              </a:spcBef>
            </a:pPr>
            <a:r>
              <a:rPr dirty="0" sz="3000" spc="-50"/>
              <a:t>4</a:t>
            </a:r>
            <a:endParaRPr sz="3000"/>
          </a:p>
          <a:p>
            <a:pPr marL="359410">
              <a:lnSpc>
                <a:spcPts val="3620"/>
              </a:lnSpc>
            </a:pPr>
            <a:r>
              <a:rPr dirty="0" sz="3350" spc="-135"/>
              <a:t>Network</a:t>
            </a:r>
            <a:r>
              <a:rPr dirty="0" sz="3350" spc="-145"/>
              <a:t> </a:t>
            </a:r>
            <a:r>
              <a:rPr dirty="0" sz="3350" spc="55"/>
              <a:t>de</a:t>
            </a:r>
            <a:r>
              <a:rPr dirty="0" sz="3350" spc="60"/>
              <a:t>s</a:t>
            </a:r>
            <a:r>
              <a:rPr dirty="0" sz="3350" spc="-540"/>
              <a:t>i</a:t>
            </a:r>
            <a:r>
              <a:rPr dirty="0" baseline="-2487" sz="5025" spc="-179">
                <a:solidFill>
                  <a:srgbClr val="E17836"/>
                </a:solidFill>
              </a:rPr>
              <a:t>i</a:t>
            </a:r>
            <a:r>
              <a:rPr dirty="0" sz="3350" spc="60"/>
              <a:t>g</a:t>
            </a:r>
            <a:r>
              <a:rPr dirty="0" sz="3350" spc="65"/>
              <a:t>n</a:t>
            </a:r>
            <a:endParaRPr sz="3350"/>
          </a:p>
          <a:p>
            <a:pPr marL="7218045">
              <a:lnSpc>
                <a:spcPct val="100000"/>
              </a:lnSpc>
              <a:spcBef>
                <a:spcPts val="890"/>
              </a:spcBef>
              <a:tabLst>
                <a:tab pos="9271000" algn="l"/>
              </a:tabLst>
            </a:pPr>
            <a:r>
              <a:rPr dirty="0" sz="3000" spc="-50"/>
              <a:t>2</a:t>
            </a:r>
            <a:r>
              <a:rPr dirty="0" sz="3000"/>
              <a:t>	</a:t>
            </a:r>
            <a:r>
              <a:rPr dirty="0" sz="3000" spc="-310"/>
              <a:t>7</a:t>
            </a:r>
            <a:endParaRPr sz="3000"/>
          </a:p>
        </p:txBody>
      </p:sp>
      <p:sp>
        <p:nvSpPr>
          <p:cNvPr id="23" name="object 23"/>
          <p:cNvSpPr txBox="1"/>
          <p:nvPr/>
        </p:nvSpPr>
        <p:spPr>
          <a:xfrm>
            <a:off x="7744373" y="6776342"/>
            <a:ext cx="222885" cy="4876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-50">
                <a:solidFill>
                  <a:srgbClr val="F5F5F5"/>
                </a:solidFill>
                <a:latin typeface="Calibri"/>
                <a:cs typeface="Calibri"/>
              </a:rPr>
              <a:t>3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875238" y="7303471"/>
            <a:ext cx="211454" cy="4876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-50">
                <a:solidFill>
                  <a:srgbClr val="F5F5F5"/>
                </a:solidFill>
                <a:latin typeface="Calibri"/>
                <a:cs typeface="Calibri"/>
              </a:rPr>
              <a:t>5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894613" y="5797387"/>
            <a:ext cx="172720" cy="4876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-434">
                <a:solidFill>
                  <a:srgbClr val="F5F5F5"/>
                </a:solidFill>
                <a:latin typeface="Calibri"/>
                <a:cs typeface="Calibri"/>
              </a:rPr>
              <a:t>1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01413" y="30953"/>
            <a:ext cx="6821805" cy="12426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950" b="0">
                <a:solidFill>
                  <a:srgbClr val="F5F5F5"/>
                </a:solidFill>
                <a:latin typeface="Calibri"/>
                <a:cs typeface="Calibri"/>
              </a:rPr>
              <a:t>Prim’s</a:t>
            </a:r>
            <a:r>
              <a:rPr dirty="0" sz="7950" spc="-295" b="0">
                <a:solidFill>
                  <a:srgbClr val="F5F5F5"/>
                </a:solidFill>
                <a:latin typeface="Calibri"/>
                <a:cs typeface="Calibri"/>
              </a:rPr>
              <a:t> </a:t>
            </a:r>
            <a:r>
              <a:rPr dirty="0" sz="7950" spc="-35" b="0">
                <a:solidFill>
                  <a:srgbClr val="E37C3B"/>
                </a:solidFill>
                <a:latin typeface="Calibri"/>
                <a:cs typeface="Calibri"/>
              </a:rPr>
              <a:t>Algorithm</a:t>
            </a:r>
            <a:endParaRPr sz="79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1258" y="3262608"/>
            <a:ext cx="1901825" cy="377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 spc="-45">
                <a:solidFill>
                  <a:srgbClr val="E37C3B"/>
                </a:solidFill>
                <a:latin typeface="Calibri"/>
                <a:cs typeface="Calibri"/>
              </a:rPr>
              <a:t>HOW</a:t>
            </a:r>
            <a:r>
              <a:rPr dirty="0" sz="2300" spc="-130">
                <a:solidFill>
                  <a:srgbClr val="E37C3B"/>
                </a:solidFill>
                <a:latin typeface="Calibri"/>
                <a:cs typeface="Calibri"/>
              </a:rPr>
              <a:t> </a:t>
            </a:r>
            <a:r>
              <a:rPr dirty="0" sz="2300" spc="-35">
                <a:solidFill>
                  <a:srgbClr val="E37C3B"/>
                </a:solidFill>
                <a:latin typeface="Calibri"/>
                <a:cs typeface="Calibri"/>
              </a:rPr>
              <a:t>IT</a:t>
            </a:r>
            <a:r>
              <a:rPr dirty="0" sz="2300" spc="-130">
                <a:solidFill>
                  <a:srgbClr val="E37C3B"/>
                </a:solidFill>
                <a:latin typeface="Calibri"/>
                <a:cs typeface="Calibri"/>
              </a:rPr>
              <a:t> </a:t>
            </a:r>
            <a:r>
              <a:rPr dirty="0" sz="2300" spc="45">
                <a:solidFill>
                  <a:srgbClr val="E37C3B"/>
                </a:solidFill>
                <a:latin typeface="Calibri"/>
                <a:cs typeface="Calibri"/>
              </a:rPr>
              <a:t>WORKS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4775" y="3970415"/>
            <a:ext cx="2546985" cy="384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50">
                <a:solidFill>
                  <a:srgbClr val="FFFFFF"/>
                </a:solidFill>
                <a:latin typeface="Calibri"/>
                <a:cs typeface="Calibri"/>
              </a:rPr>
              <a:t>Start</a:t>
            </a:r>
            <a:r>
              <a:rPr dirty="0" sz="235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35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35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95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235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65">
                <a:solidFill>
                  <a:srgbClr val="FFFFFF"/>
                </a:solidFill>
                <a:latin typeface="Calibri"/>
                <a:cs typeface="Calibri"/>
              </a:rPr>
              <a:t>vertex.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5452" y="4598039"/>
            <a:ext cx="3450590" cy="3975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450" spc="-105">
                <a:solidFill>
                  <a:srgbClr val="FFFFFF"/>
                </a:solidFill>
                <a:latin typeface="Calibri"/>
                <a:cs typeface="Calibri"/>
              </a:rPr>
              <a:t>Keep</a:t>
            </a:r>
            <a:r>
              <a:rPr dirty="0" sz="2450" spc="-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85">
                <a:solidFill>
                  <a:srgbClr val="FFFFFF"/>
                </a:solidFill>
                <a:latin typeface="Calibri"/>
                <a:cs typeface="Calibri"/>
              </a:rPr>
              <a:t>visited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FFFFFF"/>
                </a:solidFill>
                <a:latin typeface="Calibri"/>
                <a:cs typeface="Calibri"/>
              </a:rPr>
              <a:t>vertices.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9537" y="5285304"/>
            <a:ext cx="4032250" cy="11899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ts val="3090"/>
              </a:lnSpc>
              <a:spcBef>
                <a:spcPts val="95"/>
              </a:spcBef>
            </a:pPr>
            <a:r>
              <a:rPr dirty="0" sz="2450" spc="-55">
                <a:solidFill>
                  <a:srgbClr val="FFFFFF"/>
                </a:solidFill>
                <a:latin typeface="Calibri"/>
                <a:cs typeface="Calibri"/>
              </a:rPr>
              <a:t>Choose</a:t>
            </a:r>
            <a:r>
              <a:rPr dirty="0" sz="245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05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5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70">
                <a:solidFill>
                  <a:srgbClr val="FFFFFF"/>
                </a:solidFill>
                <a:latin typeface="Calibri"/>
                <a:cs typeface="Calibri"/>
              </a:rPr>
              <a:t>minimum</a:t>
            </a:r>
            <a:r>
              <a:rPr dirty="0" sz="245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75">
                <a:solidFill>
                  <a:srgbClr val="FFFFFF"/>
                </a:solidFill>
                <a:latin typeface="Calibri"/>
                <a:cs typeface="Calibri"/>
              </a:rPr>
              <a:t>weight</a:t>
            </a:r>
            <a:r>
              <a:rPr dirty="0" sz="245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FFFFFF"/>
                </a:solidFill>
                <a:latin typeface="Calibri"/>
                <a:cs typeface="Calibri"/>
              </a:rPr>
              <a:t>edge </a:t>
            </a:r>
            <a:r>
              <a:rPr dirty="0" sz="2450" spc="-5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45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60">
                <a:solidFill>
                  <a:srgbClr val="FFFFFF"/>
                </a:solidFill>
                <a:latin typeface="Calibri"/>
                <a:cs typeface="Calibri"/>
              </a:rPr>
              <a:t>connects</a:t>
            </a:r>
            <a:r>
              <a:rPr dirty="0" sz="245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05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5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70">
                <a:solidFill>
                  <a:srgbClr val="FFFFFF"/>
                </a:solidFill>
                <a:latin typeface="Calibri"/>
                <a:cs typeface="Calibri"/>
              </a:rPr>
              <a:t>visited</a:t>
            </a:r>
            <a:r>
              <a:rPr dirty="0" sz="245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dirty="0" sz="245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25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50" spc="6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0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dirty="0" sz="245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00">
                <a:solidFill>
                  <a:srgbClr val="FFFFFF"/>
                </a:solidFill>
                <a:latin typeface="Calibri"/>
                <a:cs typeface="Calibri"/>
              </a:rPr>
              <a:t>unvisited</a:t>
            </a:r>
            <a:r>
              <a:rPr dirty="0" sz="245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Calibri"/>
                <a:cs typeface="Calibri"/>
              </a:rPr>
              <a:t>vertex.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6316" y="6827043"/>
            <a:ext cx="4360545" cy="3975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450" spc="-110">
                <a:solidFill>
                  <a:srgbClr val="FFFFFF"/>
                </a:solidFill>
                <a:latin typeface="Calibri"/>
                <a:cs typeface="Calibri"/>
              </a:rPr>
              <a:t>Add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7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85">
                <a:solidFill>
                  <a:srgbClr val="FFFFFF"/>
                </a:solidFill>
                <a:latin typeface="Calibri"/>
                <a:cs typeface="Calibri"/>
              </a:rPr>
              <a:t>vertex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2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80">
                <a:solidFill>
                  <a:srgbClr val="FFFFFF"/>
                </a:solidFill>
                <a:latin typeface="Calibri"/>
                <a:cs typeface="Calibri"/>
              </a:rPr>
              <a:t>edge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75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25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25">
                <a:solidFill>
                  <a:srgbClr val="FFFFFF"/>
                </a:solidFill>
                <a:latin typeface="Calibri"/>
                <a:cs typeface="Calibri"/>
              </a:rPr>
              <a:t>MST.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6065" y="7529370"/>
            <a:ext cx="4365625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-40">
                <a:solidFill>
                  <a:srgbClr val="FFFFFF"/>
                </a:solidFill>
                <a:latin typeface="Calibri"/>
                <a:cs typeface="Calibri"/>
              </a:rPr>
              <a:t>Repeat</a:t>
            </a:r>
            <a:r>
              <a:rPr dirty="0" sz="245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35">
                <a:solidFill>
                  <a:srgbClr val="FFFFFF"/>
                </a:solidFill>
                <a:latin typeface="Calibri"/>
                <a:cs typeface="Calibri"/>
              </a:rPr>
              <a:t>until</a:t>
            </a:r>
            <a:r>
              <a:rPr dirty="0" sz="245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85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245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FFFFFF"/>
                </a:solidFill>
                <a:latin typeface="Calibri"/>
                <a:cs typeface="Calibri"/>
              </a:rPr>
              <a:t>vertices</a:t>
            </a:r>
            <a:r>
              <a:rPr dirty="0" sz="245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45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75">
                <a:solidFill>
                  <a:srgbClr val="FFFFFF"/>
                </a:solidFill>
                <a:latin typeface="Calibri"/>
                <a:cs typeface="Calibri"/>
              </a:rPr>
              <a:t>included.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1127" y="1507972"/>
            <a:ext cx="8862695" cy="101790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2229485">
              <a:lnSpc>
                <a:spcPts val="2950"/>
              </a:lnSpc>
              <a:spcBef>
                <a:spcPts val="85"/>
              </a:spcBef>
            </a:pPr>
            <a:r>
              <a:rPr dirty="0" sz="2350" spc="-55">
                <a:solidFill>
                  <a:srgbClr val="FFFFFF"/>
                </a:solidFill>
                <a:latin typeface="Calibri"/>
                <a:cs typeface="Calibri"/>
              </a:rPr>
              <a:t>Greedy</a:t>
            </a:r>
            <a:r>
              <a:rPr dirty="0" sz="235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135">
                <a:solidFill>
                  <a:srgbClr val="FFFFFF"/>
                </a:solidFill>
                <a:latin typeface="Calibri"/>
                <a:cs typeface="Calibri"/>
              </a:rPr>
              <a:t>method</a:t>
            </a:r>
            <a:r>
              <a:rPr dirty="0" sz="235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65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35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35">
                <a:solidFill>
                  <a:srgbClr val="FFFFFF"/>
                </a:solidFill>
                <a:latin typeface="Calibri"/>
                <a:cs typeface="Calibri"/>
              </a:rPr>
              <a:t>grows</a:t>
            </a:r>
            <a:r>
              <a:rPr dirty="0" sz="235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12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35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85">
                <a:solidFill>
                  <a:srgbClr val="FFFFFF"/>
                </a:solidFill>
                <a:latin typeface="Calibri"/>
                <a:cs typeface="Calibri"/>
              </a:rPr>
              <a:t>MST</a:t>
            </a:r>
            <a:r>
              <a:rPr dirty="0" sz="235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5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35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35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35">
                <a:solidFill>
                  <a:srgbClr val="FFFFFF"/>
                </a:solidFill>
                <a:latin typeface="Calibri"/>
                <a:cs typeface="Calibri"/>
              </a:rPr>
              <a:t>starting</a:t>
            </a:r>
            <a:r>
              <a:rPr dirty="0" sz="235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Calibri"/>
                <a:cs typeface="Calibri"/>
              </a:rPr>
              <a:t>vertex </a:t>
            </a:r>
            <a:r>
              <a:rPr dirty="0" sz="2350" spc="-85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35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75">
                <a:solidFill>
                  <a:srgbClr val="FFFFFF"/>
                </a:solidFill>
                <a:latin typeface="Calibri"/>
                <a:cs typeface="Calibri"/>
              </a:rPr>
              <a:t>repeatedly</a:t>
            </a:r>
            <a:r>
              <a:rPr dirty="0" sz="2350" spc="-90">
                <a:solidFill>
                  <a:srgbClr val="FFFFFF"/>
                </a:solidFill>
                <a:latin typeface="Calibri"/>
                <a:cs typeface="Calibri"/>
              </a:rPr>
              <a:t> adding</a:t>
            </a:r>
            <a:r>
              <a:rPr dirty="0" sz="235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12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35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180">
                <a:solidFill>
                  <a:srgbClr val="FFFFFF"/>
                </a:solidFill>
                <a:latin typeface="Calibri"/>
                <a:cs typeface="Calibri"/>
              </a:rPr>
              <a:t>minimum</a:t>
            </a:r>
            <a:r>
              <a:rPr dirty="0" sz="2350" spc="-95">
                <a:solidFill>
                  <a:srgbClr val="FFFFFF"/>
                </a:solidFill>
                <a:latin typeface="Calibri"/>
                <a:cs typeface="Calibri"/>
              </a:rPr>
              <a:t> weight</a:t>
            </a:r>
            <a:r>
              <a:rPr dirty="0" sz="235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Calibri"/>
                <a:cs typeface="Calibri"/>
              </a:rPr>
              <a:t>edge.</a:t>
            </a:r>
            <a:endParaRPr sz="2350">
              <a:latin typeface="Calibri"/>
              <a:cs typeface="Calibri"/>
            </a:endParaRPr>
          </a:p>
          <a:p>
            <a:pPr algn="r" marR="5080">
              <a:lnSpc>
                <a:spcPts val="1920"/>
              </a:lnSpc>
            </a:pPr>
            <a:r>
              <a:rPr dirty="0" sz="2300" spc="-10">
                <a:solidFill>
                  <a:srgbClr val="E37C3B"/>
                </a:solidFill>
                <a:latin typeface="Calibri"/>
                <a:cs typeface="Calibri"/>
              </a:rPr>
              <a:t>ALGORITHM</a:t>
            </a:r>
            <a:r>
              <a:rPr dirty="0" sz="2300" spc="-75">
                <a:solidFill>
                  <a:srgbClr val="E37C3B"/>
                </a:solidFill>
                <a:latin typeface="Calibri"/>
                <a:cs typeface="Calibri"/>
              </a:rPr>
              <a:t> </a:t>
            </a:r>
            <a:r>
              <a:rPr dirty="0" sz="2300" spc="-20">
                <a:solidFill>
                  <a:srgbClr val="E37C3B"/>
                </a:solidFill>
                <a:latin typeface="Calibri"/>
                <a:cs typeface="Calibri"/>
              </a:rPr>
              <a:t>FLOW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6439" y="2569016"/>
            <a:ext cx="2628899" cy="128587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604661" y="2808593"/>
            <a:ext cx="1216025" cy="67437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42545" marR="5080" indent="-30480">
              <a:lnSpc>
                <a:spcPts val="2390"/>
              </a:lnSpc>
              <a:spcBef>
                <a:spcPts val="450"/>
              </a:spcBef>
            </a:pPr>
            <a:r>
              <a:rPr dirty="0" sz="2250">
                <a:solidFill>
                  <a:srgbClr val="FFFFFF"/>
                </a:solidFill>
                <a:latin typeface="Calibri"/>
                <a:cs typeface="Calibri"/>
              </a:rPr>
              <a:t>Start</a:t>
            </a:r>
            <a:r>
              <a:rPr dirty="0" sz="22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50" spc="-30">
                <a:solidFill>
                  <a:srgbClr val="FFFFFF"/>
                </a:solidFill>
                <a:latin typeface="Calibri"/>
                <a:cs typeface="Calibri"/>
              </a:rPr>
              <a:t>from </a:t>
            </a:r>
            <a:r>
              <a:rPr dirty="0" sz="2250" spc="-85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225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50" spc="-25">
                <a:solidFill>
                  <a:srgbClr val="FFFFFF"/>
                </a:solidFill>
                <a:latin typeface="Calibri"/>
                <a:cs typeface="Calibri"/>
              </a:rPr>
              <a:t>vertex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11110" y="3640351"/>
            <a:ext cx="3924300" cy="1732280"/>
            <a:chOff x="6311110" y="3640351"/>
            <a:chExt cx="3924300" cy="173228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50220" y="3640351"/>
              <a:ext cx="447674" cy="4381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11110" y="3848059"/>
              <a:ext cx="3924299" cy="152399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709895" y="4032370"/>
            <a:ext cx="2995295" cy="102616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algn="ctr" marL="12700" marR="5080">
              <a:lnSpc>
                <a:spcPts val="2530"/>
              </a:lnSpc>
              <a:spcBef>
                <a:spcPts val="425"/>
              </a:spcBef>
            </a:pPr>
            <a:r>
              <a:rPr dirty="0" sz="2350" spc="-140">
                <a:solidFill>
                  <a:srgbClr val="FFFFFF"/>
                </a:solidFill>
                <a:latin typeface="Calibri"/>
                <a:cs typeface="Calibri"/>
              </a:rPr>
              <a:t>Find</a:t>
            </a:r>
            <a:r>
              <a:rPr dirty="0" sz="235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180">
                <a:solidFill>
                  <a:srgbClr val="FFFFFF"/>
                </a:solidFill>
                <a:latin typeface="Calibri"/>
                <a:cs typeface="Calibri"/>
              </a:rPr>
              <a:t>minimum</a:t>
            </a:r>
            <a:r>
              <a:rPr dirty="0" sz="235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95">
                <a:solidFill>
                  <a:srgbClr val="FFFFFF"/>
                </a:solidFill>
                <a:latin typeface="Calibri"/>
                <a:cs typeface="Calibri"/>
              </a:rPr>
              <a:t>weight</a:t>
            </a:r>
            <a:r>
              <a:rPr dirty="0" sz="235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20">
                <a:solidFill>
                  <a:srgbClr val="FFFFFF"/>
                </a:solidFill>
                <a:latin typeface="Calibri"/>
                <a:cs typeface="Calibri"/>
              </a:rPr>
              <a:t>edge </a:t>
            </a:r>
            <a:r>
              <a:rPr dirty="0" sz="2350" spc="-95">
                <a:solidFill>
                  <a:srgbClr val="FFFFFF"/>
                </a:solidFill>
                <a:latin typeface="Calibri"/>
                <a:cs typeface="Calibri"/>
              </a:rPr>
              <a:t>connecting</a:t>
            </a:r>
            <a:r>
              <a:rPr dirty="0" sz="235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80">
                <a:solidFill>
                  <a:srgbClr val="FFFFFF"/>
                </a:solidFill>
                <a:latin typeface="Calibri"/>
                <a:cs typeface="Calibri"/>
              </a:rPr>
              <a:t>visited </a:t>
            </a:r>
            <a:r>
              <a:rPr dirty="0" sz="2350" spc="-3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dirty="0" sz="235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2350" spc="-114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dirty="0" sz="235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114">
                <a:solidFill>
                  <a:srgbClr val="FFFFFF"/>
                </a:solidFill>
                <a:latin typeface="Calibri"/>
                <a:cs typeface="Calibri"/>
              </a:rPr>
              <a:t>unvisited</a:t>
            </a:r>
            <a:r>
              <a:rPr dirty="0" sz="235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Calibri"/>
                <a:cs typeface="Calibri"/>
              </a:rPr>
              <a:t>vertex</a:t>
            </a:r>
            <a:endParaRPr sz="23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748621" y="5138034"/>
            <a:ext cx="3048000" cy="1512570"/>
            <a:chOff x="6748621" y="5138034"/>
            <a:chExt cx="3048000" cy="151257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50220" y="5138034"/>
              <a:ext cx="447674" cy="43814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48621" y="5564381"/>
              <a:ext cx="3047999" cy="108584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015916" y="5623252"/>
            <a:ext cx="2383155" cy="712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779145" marR="5080" indent="-767080">
              <a:lnSpc>
                <a:spcPts val="2530"/>
              </a:lnSpc>
              <a:spcBef>
                <a:spcPts val="470"/>
              </a:spcBef>
            </a:pPr>
            <a:r>
              <a:rPr dirty="0" sz="2400" spc="-105">
                <a:solidFill>
                  <a:srgbClr val="FFFFFF"/>
                </a:solidFill>
                <a:latin typeface="Calibri"/>
                <a:cs typeface="Calibri"/>
              </a:rPr>
              <a:t>Add</a:t>
            </a:r>
            <a:r>
              <a:rPr dirty="0" sz="240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80">
                <a:solidFill>
                  <a:srgbClr val="FFFFFF"/>
                </a:solidFill>
                <a:latin typeface="Calibri"/>
                <a:cs typeface="Calibri"/>
              </a:rPr>
              <a:t>edge</a:t>
            </a:r>
            <a:r>
              <a:rPr dirty="0" sz="24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2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vertex </a:t>
            </a:r>
            <a:r>
              <a:rPr dirty="0" sz="2400" spc="-7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-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MST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956439" y="4493046"/>
            <a:ext cx="3937635" cy="5371465"/>
            <a:chOff x="6956439" y="4493046"/>
            <a:chExt cx="3937635" cy="5371465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50219" y="6428007"/>
              <a:ext cx="447674" cy="64769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56439" y="6854355"/>
              <a:ext cx="2628899" cy="17240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50219" y="8352038"/>
              <a:ext cx="447674" cy="6572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93952" y="8778385"/>
              <a:ext cx="1752599" cy="108584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008085" y="4493046"/>
              <a:ext cx="885824" cy="322897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1570191" y="2153640"/>
            <a:ext cx="1703070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50" spc="-10">
                <a:solidFill>
                  <a:srgbClr val="E37C3B"/>
                </a:solidFill>
                <a:latin typeface="Calibri"/>
                <a:cs typeface="Calibri"/>
              </a:rPr>
              <a:t>PSEUDOCODE</a:t>
            </a:r>
            <a:endParaRPr sz="2250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320621" y="2569016"/>
            <a:ext cx="6105524" cy="5153024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1774486" y="2889299"/>
            <a:ext cx="4273550" cy="4326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dirty="0" sz="2450" spc="-80">
                <a:solidFill>
                  <a:srgbClr val="FFFFFF"/>
                </a:solidFill>
                <a:latin typeface="Calibri"/>
                <a:cs typeface="Calibri"/>
              </a:rPr>
              <a:t>Prim(G, </a:t>
            </a:r>
            <a:r>
              <a:rPr dirty="0" sz="2450" spc="-25">
                <a:solidFill>
                  <a:srgbClr val="FFFFFF"/>
                </a:solidFill>
                <a:latin typeface="Calibri"/>
                <a:cs typeface="Calibri"/>
              </a:rPr>
              <a:t>s)</a:t>
            </a:r>
            <a:endParaRPr sz="2450">
              <a:latin typeface="Calibri"/>
              <a:cs typeface="Calibri"/>
            </a:endParaRPr>
          </a:p>
          <a:p>
            <a:pPr marL="12700">
              <a:lnSpc>
                <a:spcPts val="2810"/>
              </a:lnSpc>
            </a:pPr>
            <a:r>
              <a:rPr dirty="0" sz="2450">
                <a:solidFill>
                  <a:srgbClr val="E37C3B"/>
                </a:solidFill>
                <a:latin typeface="Calibri"/>
                <a:cs typeface="Calibri"/>
              </a:rPr>
              <a:t>for</a:t>
            </a:r>
            <a:r>
              <a:rPr dirty="0" sz="2450" spc="-114">
                <a:solidFill>
                  <a:srgbClr val="E37C3B"/>
                </a:solidFill>
                <a:latin typeface="Calibri"/>
                <a:cs typeface="Calibri"/>
              </a:rPr>
              <a:t> </a:t>
            </a:r>
            <a:r>
              <a:rPr dirty="0" sz="2450" spc="-75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4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dirty="0" sz="245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75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450" spc="-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endParaRPr sz="2450">
              <a:latin typeface="Calibri"/>
              <a:cs typeface="Calibri"/>
            </a:endParaRPr>
          </a:p>
          <a:p>
            <a:pPr marL="225425" marR="927100" indent="52705">
              <a:lnSpc>
                <a:spcPts val="2810"/>
              </a:lnSpc>
              <a:spcBef>
                <a:spcPts val="140"/>
              </a:spcBef>
            </a:pPr>
            <a:r>
              <a:rPr dirty="0" sz="2450" spc="-155">
                <a:solidFill>
                  <a:srgbClr val="FFFFFF"/>
                </a:solidFill>
                <a:latin typeface="Calibri"/>
                <a:cs typeface="Calibri"/>
              </a:rPr>
              <a:t>key[v]</a:t>
            </a:r>
            <a:r>
              <a:rPr dirty="0" sz="2450" spc="-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4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dirty="0" sz="2450" spc="-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1760">
                <a:solidFill>
                  <a:srgbClr val="FFFFFF"/>
                </a:solidFill>
                <a:latin typeface="Arial"/>
                <a:cs typeface="Arial"/>
              </a:rPr>
              <a:t>∞</a:t>
            </a:r>
            <a:r>
              <a:rPr dirty="0" sz="950" spc="1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-85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2450" spc="-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parent[v] </a:t>
            </a:r>
            <a:r>
              <a:rPr dirty="0" sz="2450" spc="-14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dirty="0" sz="2450" spc="-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85">
                <a:solidFill>
                  <a:srgbClr val="FFFFFF"/>
                </a:solidFill>
                <a:latin typeface="Calibri"/>
                <a:cs typeface="Calibri"/>
              </a:rPr>
              <a:t>NIL </a:t>
            </a:r>
            <a:r>
              <a:rPr dirty="0" sz="2450" spc="-125">
                <a:solidFill>
                  <a:srgbClr val="FFFFFF"/>
                </a:solidFill>
                <a:latin typeface="Calibri"/>
                <a:cs typeface="Calibri"/>
              </a:rPr>
              <a:t>key[s]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4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dirty="0" sz="2450" spc="-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6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2450">
              <a:latin typeface="Calibri"/>
              <a:cs typeface="Calibri"/>
            </a:endParaRPr>
          </a:p>
          <a:p>
            <a:pPr marL="12700" marR="1896745">
              <a:lnSpc>
                <a:spcPts val="2810"/>
              </a:lnSpc>
            </a:pPr>
            <a:r>
              <a:rPr dirty="0" sz="2450" spc="-55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r>
              <a:rPr dirty="0" sz="2450" spc="-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4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dirty="0" sz="2450" spc="-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95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2450" spc="-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FFFFFF"/>
                </a:solidFill>
                <a:latin typeface="Calibri"/>
                <a:cs typeface="Calibri"/>
              </a:rPr>
              <a:t>vertices</a:t>
            </a:r>
            <a:r>
              <a:rPr dirty="0" sz="2450" spc="-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75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450" spc="-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FFFFFF"/>
                </a:solidFill>
                <a:latin typeface="Calibri"/>
                <a:cs typeface="Calibri"/>
              </a:rPr>
              <a:t>V </a:t>
            </a:r>
            <a:r>
              <a:rPr dirty="0" sz="2450" spc="-150">
                <a:solidFill>
                  <a:srgbClr val="E37C3B"/>
                </a:solidFill>
                <a:latin typeface="Calibri"/>
                <a:cs typeface="Calibri"/>
              </a:rPr>
              <a:t>while</a:t>
            </a:r>
            <a:r>
              <a:rPr dirty="0" sz="2450" spc="-125">
                <a:solidFill>
                  <a:srgbClr val="E37C3B"/>
                </a:solidFill>
                <a:latin typeface="Calibri"/>
                <a:cs typeface="Calibri"/>
              </a:rPr>
              <a:t> </a:t>
            </a:r>
            <a:r>
              <a:rPr dirty="0" sz="2450" spc="-55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r>
              <a:rPr dirty="0" sz="2450" spc="-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25">
                <a:solidFill>
                  <a:srgbClr val="E37C3B"/>
                </a:solidFill>
                <a:latin typeface="Calibri"/>
                <a:cs typeface="Calibri"/>
              </a:rPr>
              <a:t>not</a:t>
            </a:r>
            <a:r>
              <a:rPr dirty="0" sz="2450" spc="-120">
                <a:solidFill>
                  <a:srgbClr val="E37C3B"/>
                </a:solidFill>
                <a:latin typeface="Calibri"/>
                <a:cs typeface="Calibri"/>
              </a:rPr>
              <a:t> </a:t>
            </a:r>
            <a:r>
              <a:rPr dirty="0" sz="2450" spc="-75">
                <a:solidFill>
                  <a:srgbClr val="E37C3B"/>
                </a:solidFill>
                <a:latin typeface="Calibri"/>
                <a:cs typeface="Calibri"/>
              </a:rPr>
              <a:t>empty</a:t>
            </a:r>
            <a:endParaRPr sz="2450">
              <a:latin typeface="Calibri"/>
              <a:cs typeface="Calibri"/>
            </a:endParaRPr>
          </a:p>
          <a:p>
            <a:pPr marL="225425" marR="5080">
              <a:lnSpc>
                <a:spcPts val="2810"/>
              </a:lnSpc>
              <a:spcBef>
                <a:spcPts val="5"/>
              </a:spcBef>
            </a:pPr>
            <a:r>
              <a:rPr dirty="0" sz="2450" spc="-24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4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85">
                <a:solidFill>
                  <a:srgbClr val="FFFFFF"/>
                </a:solidFill>
                <a:latin typeface="Calibri"/>
                <a:cs typeface="Calibri"/>
              </a:rPr>
              <a:t>vertex</a:t>
            </a:r>
            <a:r>
              <a:rPr dirty="0" sz="245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75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55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25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45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90">
                <a:solidFill>
                  <a:srgbClr val="FFFFFF"/>
                </a:solidFill>
                <a:latin typeface="Calibri"/>
                <a:cs typeface="Calibri"/>
              </a:rPr>
              <a:t>minimum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05">
                <a:solidFill>
                  <a:srgbClr val="FFFFFF"/>
                </a:solidFill>
                <a:latin typeface="Calibri"/>
                <a:cs typeface="Calibri"/>
              </a:rPr>
              <a:t>key[v] </a:t>
            </a:r>
            <a:r>
              <a:rPr dirty="0" sz="2450" spc="-110">
                <a:solidFill>
                  <a:srgbClr val="FFFFFF"/>
                </a:solidFill>
                <a:latin typeface="Calibri"/>
                <a:cs typeface="Calibri"/>
              </a:rPr>
              <a:t>remove</a:t>
            </a:r>
            <a:r>
              <a:rPr dirty="0" sz="2450" spc="-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24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dirty="0" sz="2450" spc="-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endParaRPr sz="2450">
              <a:latin typeface="Calibri"/>
              <a:cs typeface="Calibri"/>
            </a:endParaRPr>
          </a:p>
          <a:p>
            <a:pPr marL="225425">
              <a:lnSpc>
                <a:spcPts val="2675"/>
              </a:lnSpc>
            </a:pPr>
            <a:r>
              <a:rPr dirty="0" sz="245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75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dirty="0" sz="245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4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dirty="0" sz="245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70">
                <a:solidFill>
                  <a:srgbClr val="FFFFFF"/>
                </a:solidFill>
                <a:latin typeface="Calibri"/>
                <a:cs typeface="Calibri"/>
              </a:rPr>
              <a:t>adjacent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7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5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endParaRPr sz="2450">
              <a:latin typeface="Calibri"/>
              <a:cs typeface="Calibri"/>
            </a:endParaRPr>
          </a:p>
          <a:p>
            <a:pPr marL="438784" marR="224154">
              <a:lnSpc>
                <a:spcPts val="2810"/>
              </a:lnSpc>
              <a:spcBef>
                <a:spcPts val="135"/>
              </a:spcBef>
            </a:pPr>
            <a:r>
              <a:rPr dirty="0" sz="2450">
                <a:solidFill>
                  <a:srgbClr val="E37C3B"/>
                </a:solidFill>
                <a:latin typeface="Calibri"/>
                <a:cs typeface="Calibri"/>
              </a:rPr>
              <a:t>if</a:t>
            </a:r>
            <a:r>
              <a:rPr dirty="0" sz="2450" spc="-114">
                <a:solidFill>
                  <a:srgbClr val="E37C3B"/>
                </a:solidFill>
                <a:latin typeface="Calibri"/>
                <a:cs typeface="Calibri"/>
              </a:rPr>
              <a:t> </a:t>
            </a:r>
            <a:r>
              <a:rPr dirty="0" sz="2450" spc="-14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75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450" spc="-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55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r>
              <a:rPr dirty="0" sz="2450" spc="-120">
                <a:solidFill>
                  <a:srgbClr val="FFFFFF"/>
                </a:solidFill>
                <a:latin typeface="Calibri"/>
                <a:cs typeface="Calibri"/>
              </a:rPr>
              <a:t> and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25">
                <a:solidFill>
                  <a:srgbClr val="FFFFFF"/>
                </a:solidFill>
                <a:latin typeface="Calibri"/>
                <a:cs typeface="Calibri"/>
              </a:rPr>
              <a:t>weight(u,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70">
                <a:solidFill>
                  <a:srgbClr val="FFFFFF"/>
                </a:solidFill>
                <a:latin typeface="Calibri"/>
                <a:cs typeface="Calibri"/>
              </a:rPr>
              <a:t>v)</a:t>
            </a:r>
            <a:r>
              <a:rPr dirty="0" sz="245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370">
                <a:solidFill>
                  <a:srgbClr val="FFFFFF"/>
                </a:solidFill>
                <a:latin typeface="Calibri"/>
                <a:cs typeface="Calibri"/>
              </a:rPr>
              <a:t>&lt;</a:t>
            </a:r>
            <a:r>
              <a:rPr dirty="0" sz="2450" spc="-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key[v] </a:t>
            </a:r>
            <a:r>
              <a:rPr dirty="0" sz="2450" spc="-155">
                <a:solidFill>
                  <a:srgbClr val="FFFFFF"/>
                </a:solidFill>
                <a:latin typeface="Calibri"/>
                <a:cs typeface="Calibri"/>
              </a:rPr>
              <a:t>key[v]</a:t>
            </a:r>
            <a:r>
              <a:rPr dirty="0" sz="245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4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dirty="0" sz="245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25">
                <a:solidFill>
                  <a:srgbClr val="FFFFFF"/>
                </a:solidFill>
                <a:latin typeface="Calibri"/>
                <a:cs typeface="Calibri"/>
              </a:rPr>
              <a:t>weight(u,</a:t>
            </a:r>
            <a:r>
              <a:rPr dirty="0" sz="245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25">
                <a:solidFill>
                  <a:srgbClr val="FFFFFF"/>
                </a:solidFill>
                <a:latin typeface="Calibri"/>
                <a:cs typeface="Calibri"/>
              </a:rPr>
              <a:t>v)</a:t>
            </a:r>
            <a:endParaRPr sz="2450">
              <a:latin typeface="Calibri"/>
              <a:cs typeface="Calibri"/>
            </a:endParaRPr>
          </a:p>
          <a:p>
            <a:pPr marL="438784">
              <a:lnSpc>
                <a:spcPts val="2740"/>
              </a:lnSpc>
            </a:pP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parent[v]</a:t>
            </a:r>
            <a:r>
              <a:rPr dirty="0" sz="245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14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dirty="0" sz="245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564428" y="7760088"/>
            <a:ext cx="2277110" cy="384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50" spc="-65">
                <a:solidFill>
                  <a:srgbClr val="E37C3B"/>
                </a:solidFill>
                <a:latin typeface="Calibri"/>
                <a:cs typeface="Calibri"/>
              </a:rPr>
              <a:t>TIME</a:t>
            </a:r>
            <a:r>
              <a:rPr dirty="0" sz="2350" spc="-135">
                <a:solidFill>
                  <a:srgbClr val="E37C3B"/>
                </a:solidFill>
                <a:latin typeface="Calibri"/>
                <a:cs typeface="Calibri"/>
              </a:rPr>
              <a:t> </a:t>
            </a:r>
            <a:r>
              <a:rPr dirty="0" sz="2350" spc="-10">
                <a:solidFill>
                  <a:srgbClr val="E37C3B"/>
                </a:solidFill>
                <a:latin typeface="Calibri"/>
                <a:cs typeface="Calibri"/>
              </a:rPr>
              <a:t>COMPLEXITY</a:t>
            </a:r>
            <a:endParaRPr sz="235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320621" y="8133398"/>
            <a:ext cx="6105524" cy="1943099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12131616" y="8333283"/>
            <a:ext cx="1752600" cy="136080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dirty="0" sz="3750" spc="-10">
                <a:solidFill>
                  <a:srgbClr val="E37C3B"/>
                </a:solidFill>
                <a:latin typeface="Calibri"/>
                <a:cs typeface="Calibri"/>
              </a:rPr>
              <a:t>O(V</a:t>
            </a:r>
            <a:r>
              <a:rPr dirty="0" sz="3750" spc="-10" b="1">
                <a:solidFill>
                  <a:srgbClr val="E37C3B"/>
                </a:solidFill>
                <a:latin typeface="Hypatia Sans Pro Black"/>
                <a:cs typeface="Hypatia Sans Pro Black"/>
              </a:rPr>
              <a:t>²</a:t>
            </a:r>
            <a:r>
              <a:rPr dirty="0" sz="3750" spc="-10">
                <a:solidFill>
                  <a:srgbClr val="E37C3B"/>
                </a:solidFill>
                <a:latin typeface="Calibri"/>
                <a:cs typeface="Calibri"/>
              </a:rPr>
              <a:t>)</a:t>
            </a:r>
            <a:endParaRPr sz="3750">
              <a:latin typeface="Calibri"/>
              <a:cs typeface="Calibri"/>
            </a:endParaRPr>
          </a:p>
          <a:p>
            <a:pPr algn="ctr" marL="12700" marR="5080">
              <a:lnSpc>
                <a:spcPts val="2530"/>
              </a:lnSpc>
              <a:spcBef>
                <a:spcPts val="610"/>
              </a:spcBef>
            </a:pPr>
            <a:r>
              <a:rPr dirty="0" sz="2400" spc="-12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4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adjacency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matrix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4361331" y="8133398"/>
            <a:ext cx="228599" cy="1943099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4983556" y="8323596"/>
            <a:ext cx="1781810" cy="136969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45"/>
              </a:spcBef>
            </a:pPr>
            <a:r>
              <a:rPr dirty="0" sz="3750" spc="-130">
                <a:solidFill>
                  <a:srgbClr val="E37C3B"/>
                </a:solidFill>
                <a:latin typeface="Calibri"/>
                <a:cs typeface="Calibri"/>
              </a:rPr>
              <a:t>O(E</a:t>
            </a:r>
            <a:r>
              <a:rPr dirty="0" sz="3750" spc="-229">
                <a:solidFill>
                  <a:srgbClr val="E37C3B"/>
                </a:solidFill>
                <a:latin typeface="Calibri"/>
                <a:cs typeface="Calibri"/>
              </a:rPr>
              <a:t> </a:t>
            </a:r>
            <a:r>
              <a:rPr dirty="0" sz="3750" spc="-55">
                <a:solidFill>
                  <a:srgbClr val="E37C3B"/>
                </a:solidFill>
                <a:latin typeface="Calibri"/>
                <a:cs typeface="Calibri"/>
              </a:rPr>
              <a:t>log</a:t>
            </a:r>
            <a:r>
              <a:rPr dirty="0" sz="3750" spc="-225">
                <a:solidFill>
                  <a:srgbClr val="E37C3B"/>
                </a:solidFill>
                <a:latin typeface="Calibri"/>
                <a:cs typeface="Calibri"/>
              </a:rPr>
              <a:t> </a:t>
            </a:r>
            <a:r>
              <a:rPr dirty="0" sz="3750" spc="-25">
                <a:solidFill>
                  <a:srgbClr val="E37C3B"/>
                </a:solidFill>
                <a:latin typeface="Calibri"/>
                <a:cs typeface="Calibri"/>
              </a:rPr>
              <a:t>V)</a:t>
            </a:r>
            <a:endParaRPr sz="3750">
              <a:latin typeface="Calibri"/>
              <a:cs typeface="Calibri"/>
            </a:endParaRPr>
          </a:p>
          <a:p>
            <a:pPr algn="ctr" marL="194310" marR="186690">
              <a:lnSpc>
                <a:spcPts val="2530"/>
              </a:lnSpc>
              <a:spcBef>
                <a:spcPts val="610"/>
              </a:spcBef>
            </a:pPr>
            <a:r>
              <a:rPr dirty="0" sz="2350" spc="-11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35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50" spc="-50">
                <a:solidFill>
                  <a:srgbClr val="FFFFFF"/>
                </a:solidFill>
                <a:latin typeface="Calibri"/>
                <a:cs typeface="Calibri"/>
              </a:rPr>
              <a:t>priority </a:t>
            </a:r>
            <a:r>
              <a:rPr dirty="0" sz="2350" spc="-10">
                <a:solidFill>
                  <a:srgbClr val="FFFFFF"/>
                </a:solidFill>
                <a:latin typeface="Calibri"/>
                <a:cs typeface="Calibri"/>
              </a:rPr>
              <a:t>queue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938894" y="9034856"/>
            <a:ext cx="547370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50" spc="-20">
                <a:solidFill>
                  <a:srgbClr val="FFFFFF"/>
                </a:solidFill>
                <a:latin typeface="Calibri"/>
                <a:cs typeface="Calibri"/>
              </a:rPr>
              <a:t>Stop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543462" y="7279944"/>
            <a:ext cx="1338580" cy="712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34620" marR="30480" indent="-97155">
              <a:lnSpc>
                <a:spcPts val="2530"/>
              </a:lnSpc>
              <a:spcBef>
                <a:spcPts val="470"/>
              </a:spcBef>
            </a:pPr>
            <a:r>
              <a:rPr dirty="0" sz="2400" spc="-125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2400" spc="-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dirty="0" sz="2400" spc="-74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baseline="16049" sz="3375" spc="-117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2400" spc="-295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baseline="16049" sz="3375" spc="-145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2400" spc="-3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included?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5430" rIns="0" bIns="0" rtlCol="0" vert="horz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2090"/>
              </a:spcBef>
            </a:pPr>
            <a:r>
              <a:rPr dirty="0" spc="170"/>
              <a:t>Kruskal’s </a:t>
            </a:r>
            <a:r>
              <a:rPr dirty="0" spc="-10">
                <a:solidFill>
                  <a:srgbClr val="DD783B"/>
                </a:solidFill>
              </a:rPr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0272" y="3059146"/>
            <a:ext cx="3651885" cy="8108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9600"/>
              </a:lnSpc>
              <a:spcBef>
                <a:spcPts val="90"/>
              </a:spcBef>
            </a:pPr>
            <a:r>
              <a:rPr dirty="0" sz="2350">
                <a:solidFill>
                  <a:srgbClr val="D9D9D9"/>
                </a:solidFill>
                <a:latin typeface="Calibri"/>
                <a:cs typeface="Calibri"/>
              </a:rPr>
              <a:t>A</a:t>
            </a:r>
            <a:r>
              <a:rPr dirty="0" sz="2350" spc="-7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>
                <a:solidFill>
                  <a:srgbClr val="D9D9D9"/>
                </a:solidFill>
                <a:latin typeface="Calibri"/>
                <a:cs typeface="Calibri"/>
              </a:rPr>
              <a:t>greedy</a:t>
            </a:r>
            <a:r>
              <a:rPr dirty="0" sz="2350" spc="-7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>
                <a:solidFill>
                  <a:srgbClr val="D9D9D9"/>
                </a:solidFill>
                <a:latin typeface="Calibri"/>
                <a:cs typeface="Calibri"/>
              </a:rPr>
              <a:t>algorithm</a:t>
            </a:r>
            <a:r>
              <a:rPr dirty="0" sz="2350" spc="-7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>
                <a:solidFill>
                  <a:srgbClr val="D9D9D9"/>
                </a:solidFill>
                <a:latin typeface="Calibri"/>
                <a:cs typeface="Calibri"/>
              </a:rPr>
              <a:t>that</a:t>
            </a:r>
            <a:r>
              <a:rPr dirty="0" sz="2350" spc="-7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 spc="-40">
                <a:solidFill>
                  <a:srgbClr val="D9D9D9"/>
                </a:solidFill>
                <a:latin typeface="Calibri"/>
                <a:cs typeface="Calibri"/>
              </a:rPr>
              <a:t>builds </a:t>
            </a:r>
            <a:r>
              <a:rPr dirty="0" sz="2350" spc="90">
                <a:solidFill>
                  <a:srgbClr val="D9D9D9"/>
                </a:solidFill>
                <a:latin typeface="Calibri"/>
                <a:cs typeface="Calibri"/>
              </a:rPr>
              <a:t>a</a:t>
            </a:r>
            <a:r>
              <a:rPr dirty="0" sz="2350" spc="-12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 spc="-95">
                <a:solidFill>
                  <a:srgbClr val="D9D9D9"/>
                </a:solidFill>
                <a:latin typeface="Calibri"/>
                <a:cs typeface="Calibri"/>
              </a:rPr>
              <a:t>minimum</a:t>
            </a:r>
            <a:r>
              <a:rPr dirty="0" sz="2350" spc="-114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 spc="-35">
                <a:solidFill>
                  <a:srgbClr val="D9D9D9"/>
                </a:solidFill>
                <a:latin typeface="Calibri"/>
                <a:cs typeface="Calibri"/>
              </a:rPr>
              <a:t>spanning</a:t>
            </a:r>
            <a:r>
              <a:rPr dirty="0" sz="2350" spc="-114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 spc="-20">
                <a:solidFill>
                  <a:srgbClr val="D9D9D9"/>
                </a:solidFill>
                <a:latin typeface="Calibri"/>
                <a:cs typeface="Calibri"/>
              </a:rPr>
              <a:t>tree.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0468" y="4399564"/>
            <a:ext cx="3652520" cy="12617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2700" spc="85">
                <a:solidFill>
                  <a:srgbClr val="D9D9D9"/>
                </a:solidFill>
                <a:latin typeface="Calibri"/>
                <a:cs typeface="Calibri"/>
              </a:rPr>
              <a:t>Sort</a:t>
            </a:r>
            <a:r>
              <a:rPr dirty="0" sz="2700" spc="-15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D9D9D9"/>
                </a:solidFill>
                <a:latin typeface="Calibri"/>
                <a:cs typeface="Calibri"/>
              </a:rPr>
              <a:t>edges</a:t>
            </a:r>
            <a:r>
              <a:rPr dirty="0" sz="2700" spc="-14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700" spc="-25">
                <a:solidFill>
                  <a:srgbClr val="D9D9D9"/>
                </a:solidFill>
                <a:latin typeface="Calibri"/>
                <a:cs typeface="Calibri"/>
              </a:rPr>
              <a:t>by</a:t>
            </a:r>
            <a:r>
              <a:rPr dirty="0" sz="2700" spc="-15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700" spc="-25">
                <a:solidFill>
                  <a:srgbClr val="D9D9D9"/>
                </a:solidFill>
                <a:latin typeface="Calibri"/>
                <a:cs typeface="Calibri"/>
              </a:rPr>
              <a:t>weight</a:t>
            </a:r>
            <a:r>
              <a:rPr dirty="0" sz="2700" spc="-14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700" spc="-25">
                <a:solidFill>
                  <a:srgbClr val="D9D9D9"/>
                </a:solidFill>
                <a:latin typeface="Calibri"/>
                <a:cs typeface="Calibri"/>
              </a:rPr>
              <a:t>and </a:t>
            </a:r>
            <a:r>
              <a:rPr dirty="0" sz="2700" spc="-20">
                <a:solidFill>
                  <a:srgbClr val="D9D9D9"/>
                </a:solidFill>
                <a:latin typeface="Calibri"/>
                <a:cs typeface="Calibri"/>
              </a:rPr>
              <a:t>add</a:t>
            </a:r>
            <a:r>
              <a:rPr dirty="0" sz="2700" spc="-14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700" spc="-45">
                <a:solidFill>
                  <a:srgbClr val="D9D9D9"/>
                </a:solidFill>
                <a:latin typeface="Calibri"/>
                <a:cs typeface="Calibri"/>
              </a:rPr>
              <a:t>the</a:t>
            </a:r>
            <a:r>
              <a:rPr dirty="0" sz="2700" spc="-14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D9D9D9"/>
                </a:solidFill>
                <a:latin typeface="Calibri"/>
                <a:cs typeface="Calibri"/>
              </a:rPr>
              <a:t>smallest</a:t>
            </a:r>
            <a:r>
              <a:rPr dirty="0" sz="2700" spc="-14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700" spc="-25">
                <a:solidFill>
                  <a:srgbClr val="D9D9D9"/>
                </a:solidFill>
                <a:latin typeface="Calibri"/>
                <a:cs typeface="Calibri"/>
              </a:rPr>
              <a:t>edge</a:t>
            </a:r>
            <a:r>
              <a:rPr dirty="0" sz="2700" spc="-14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700" spc="-20">
                <a:solidFill>
                  <a:srgbClr val="D9D9D9"/>
                </a:solidFill>
                <a:latin typeface="Calibri"/>
                <a:cs typeface="Calibri"/>
              </a:rPr>
              <a:t>that </a:t>
            </a:r>
            <a:r>
              <a:rPr dirty="0" sz="2700" spc="-30">
                <a:solidFill>
                  <a:srgbClr val="D9D9D9"/>
                </a:solidFill>
                <a:latin typeface="Calibri"/>
                <a:cs typeface="Calibri"/>
              </a:rPr>
              <a:t>does</a:t>
            </a:r>
            <a:r>
              <a:rPr dirty="0" sz="2700" spc="-15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700" spc="-60">
                <a:solidFill>
                  <a:srgbClr val="D9D9D9"/>
                </a:solidFill>
                <a:latin typeface="Calibri"/>
                <a:cs typeface="Calibri"/>
              </a:rPr>
              <a:t>not</a:t>
            </a:r>
            <a:r>
              <a:rPr dirty="0" sz="2700" spc="-15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700" spc="55">
                <a:solidFill>
                  <a:srgbClr val="D9D9D9"/>
                </a:solidFill>
                <a:latin typeface="Calibri"/>
                <a:cs typeface="Calibri"/>
              </a:rPr>
              <a:t>create</a:t>
            </a:r>
            <a:r>
              <a:rPr dirty="0" sz="2700" spc="-15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700" spc="90">
                <a:solidFill>
                  <a:srgbClr val="D9D9D9"/>
                </a:solidFill>
                <a:latin typeface="Calibri"/>
                <a:cs typeface="Calibri"/>
              </a:rPr>
              <a:t>a</a:t>
            </a:r>
            <a:r>
              <a:rPr dirty="0" sz="2700" spc="-15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700" spc="-10">
                <a:solidFill>
                  <a:srgbClr val="D9D9D9"/>
                </a:solidFill>
                <a:latin typeface="Calibri"/>
                <a:cs typeface="Calibri"/>
              </a:rPr>
              <a:t>cycle.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3518" y="6176851"/>
            <a:ext cx="3317240" cy="7753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9300"/>
              </a:lnSpc>
              <a:spcBef>
                <a:spcPts val="90"/>
              </a:spcBef>
            </a:pPr>
            <a:r>
              <a:rPr dirty="0" sz="2250" spc="55">
                <a:solidFill>
                  <a:srgbClr val="D9D9D9"/>
                </a:solidFill>
                <a:latin typeface="Calibri"/>
                <a:cs typeface="Calibri"/>
              </a:rPr>
              <a:t>Cycle</a:t>
            </a:r>
            <a:r>
              <a:rPr dirty="0" sz="2250" spc="-114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D9D9D9"/>
                </a:solidFill>
                <a:latin typeface="Calibri"/>
                <a:cs typeface="Calibri"/>
              </a:rPr>
              <a:t>detection</a:t>
            </a:r>
            <a:r>
              <a:rPr dirty="0" sz="2250" spc="-114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D9D9D9"/>
                </a:solidFill>
                <a:latin typeface="Calibri"/>
                <a:cs typeface="Calibri"/>
              </a:rPr>
              <a:t>is</a:t>
            </a:r>
            <a:r>
              <a:rPr dirty="0" sz="2250" spc="-11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250" spc="-80">
                <a:solidFill>
                  <a:srgbClr val="D9D9D9"/>
                </a:solidFill>
                <a:latin typeface="Calibri"/>
                <a:cs typeface="Calibri"/>
              </a:rPr>
              <a:t>done</a:t>
            </a:r>
            <a:r>
              <a:rPr dirty="0" sz="2250" spc="-114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250" spc="-20">
                <a:solidFill>
                  <a:srgbClr val="D9D9D9"/>
                </a:solidFill>
                <a:latin typeface="Calibri"/>
                <a:cs typeface="Calibri"/>
              </a:rPr>
              <a:t>using </a:t>
            </a:r>
            <a:r>
              <a:rPr dirty="0" sz="2250" spc="-70">
                <a:solidFill>
                  <a:srgbClr val="D9D9D9"/>
                </a:solidFill>
                <a:latin typeface="Calibri"/>
                <a:cs typeface="Calibri"/>
              </a:rPr>
              <a:t>Union-</a:t>
            </a:r>
            <a:r>
              <a:rPr dirty="0" sz="2250" spc="-75">
                <a:solidFill>
                  <a:srgbClr val="D9D9D9"/>
                </a:solidFill>
                <a:latin typeface="Calibri"/>
                <a:cs typeface="Calibri"/>
              </a:rPr>
              <a:t>Find </a:t>
            </a:r>
            <a:r>
              <a:rPr dirty="0" sz="2250" spc="-45">
                <a:solidFill>
                  <a:srgbClr val="D9D9D9"/>
                </a:solidFill>
                <a:latin typeface="Calibri"/>
                <a:cs typeface="Calibri"/>
              </a:rPr>
              <a:t>(Disjoint</a:t>
            </a:r>
            <a:r>
              <a:rPr dirty="0" sz="2250" spc="-7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250" spc="-20">
                <a:solidFill>
                  <a:srgbClr val="D9D9D9"/>
                </a:solidFill>
                <a:latin typeface="Calibri"/>
                <a:cs typeface="Calibri"/>
              </a:rPr>
              <a:t>Set).</a:t>
            </a:r>
            <a:endParaRPr sz="22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574" y="7707051"/>
            <a:ext cx="4143374" cy="19430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55204" y="7979588"/>
            <a:ext cx="1975485" cy="3175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900" b="1">
                <a:solidFill>
                  <a:srgbClr val="D9D9D9"/>
                </a:solidFill>
                <a:latin typeface="Calibri"/>
                <a:cs typeface="Calibri"/>
              </a:rPr>
              <a:t>TIME</a:t>
            </a:r>
            <a:r>
              <a:rPr dirty="0" sz="1900" spc="-145" b="1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1900" spc="60" b="1">
                <a:solidFill>
                  <a:srgbClr val="D9D9D9"/>
                </a:solidFill>
                <a:latin typeface="Calibri"/>
                <a:cs typeface="Calibri"/>
              </a:rPr>
              <a:t>COMPLEXITY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1095" y="8318593"/>
            <a:ext cx="2912745" cy="973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200" spc="-155" b="1">
                <a:solidFill>
                  <a:srgbClr val="DD783B"/>
                </a:solidFill>
                <a:latin typeface="Calibri"/>
                <a:cs typeface="Calibri"/>
              </a:rPr>
              <a:t>O(E</a:t>
            </a:r>
            <a:r>
              <a:rPr dirty="0" sz="6200" spc="-445" b="1">
                <a:solidFill>
                  <a:srgbClr val="DD783B"/>
                </a:solidFill>
                <a:latin typeface="Calibri"/>
                <a:cs typeface="Calibri"/>
              </a:rPr>
              <a:t> </a:t>
            </a:r>
            <a:r>
              <a:rPr dirty="0" sz="6200" spc="-35" b="1">
                <a:solidFill>
                  <a:srgbClr val="DD783B"/>
                </a:solidFill>
                <a:latin typeface="Calibri"/>
                <a:cs typeface="Calibri"/>
              </a:rPr>
              <a:t>log</a:t>
            </a:r>
            <a:r>
              <a:rPr dirty="0" sz="6200" spc="-440" b="1">
                <a:solidFill>
                  <a:srgbClr val="DD783B"/>
                </a:solidFill>
                <a:latin typeface="Calibri"/>
                <a:cs typeface="Calibri"/>
              </a:rPr>
              <a:t> </a:t>
            </a:r>
            <a:r>
              <a:rPr dirty="0" sz="6200" spc="-365" b="1">
                <a:solidFill>
                  <a:srgbClr val="DD783B"/>
                </a:solidFill>
                <a:latin typeface="Calibri"/>
                <a:cs typeface="Calibri"/>
              </a:rPr>
              <a:t>E)</a:t>
            </a:r>
            <a:endParaRPr sz="6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73597" y="426347"/>
            <a:ext cx="2847975" cy="2157730"/>
            <a:chOff x="5873597" y="426347"/>
            <a:chExt cx="2847975" cy="215773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11110" y="426347"/>
              <a:ext cx="1971674" cy="6572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75196" y="1071334"/>
              <a:ext cx="228599" cy="43814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73597" y="1279042"/>
              <a:ext cx="2847974" cy="130492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348334" y="1515461"/>
            <a:ext cx="1915795" cy="83502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algn="ctr" marL="259079" marR="251460">
              <a:lnSpc>
                <a:spcPts val="1970"/>
              </a:lnSpc>
              <a:spcBef>
                <a:spcPts val="555"/>
              </a:spcBef>
            </a:pPr>
            <a:r>
              <a:rPr dirty="0" sz="2000" spc="65">
                <a:solidFill>
                  <a:srgbClr val="D9D9D9"/>
                </a:solidFill>
                <a:latin typeface="Calibri"/>
                <a:cs typeface="Calibri"/>
              </a:rPr>
              <a:t>Sort</a:t>
            </a:r>
            <a:r>
              <a:rPr dirty="0" sz="2000" spc="-114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00" spc="-30">
                <a:solidFill>
                  <a:srgbClr val="D9D9D9"/>
                </a:solidFill>
                <a:latin typeface="Calibri"/>
                <a:cs typeface="Calibri"/>
              </a:rPr>
              <a:t>all</a:t>
            </a:r>
            <a:r>
              <a:rPr dirty="0" sz="2000" spc="-11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D9D9D9"/>
                </a:solidFill>
                <a:latin typeface="Calibri"/>
                <a:cs typeface="Calibri"/>
              </a:rPr>
              <a:t>edges </a:t>
            </a:r>
            <a:r>
              <a:rPr dirty="0" sz="2000" spc="-10">
                <a:solidFill>
                  <a:srgbClr val="D9D9D9"/>
                </a:solidFill>
                <a:latin typeface="Calibri"/>
                <a:cs typeface="Calibri"/>
              </a:rPr>
              <a:t>by</a:t>
            </a:r>
            <a:r>
              <a:rPr dirty="0" sz="2000" spc="-13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D9D9D9"/>
                </a:solidFill>
                <a:latin typeface="Calibri"/>
                <a:cs typeface="Calibri"/>
              </a:rPr>
              <a:t>non-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ts val="1970"/>
              </a:lnSpc>
            </a:pPr>
            <a:r>
              <a:rPr dirty="0" sz="2000">
                <a:solidFill>
                  <a:srgbClr val="D9D9D9"/>
                </a:solidFill>
                <a:latin typeface="Calibri"/>
                <a:cs typeface="Calibri"/>
              </a:rPr>
              <a:t>decreasing</a:t>
            </a:r>
            <a:r>
              <a:rPr dirty="0" sz="2000" spc="-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D9D9D9"/>
                </a:solidFill>
                <a:latin typeface="Calibri"/>
                <a:cs typeface="Calibri"/>
              </a:rPr>
              <a:t>weight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873597" y="2350377"/>
            <a:ext cx="2847975" cy="1512570"/>
            <a:chOff x="5873597" y="2350377"/>
            <a:chExt cx="2847975" cy="1512570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75196" y="2350377"/>
              <a:ext cx="228599" cy="6572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73597" y="2776724"/>
              <a:ext cx="2847974" cy="108584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434793" y="2958513"/>
            <a:ext cx="1743075" cy="585470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372110" marR="5080" indent="-360045">
              <a:lnSpc>
                <a:spcPts val="1970"/>
              </a:lnSpc>
              <a:spcBef>
                <a:spcPts val="555"/>
              </a:spcBef>
            </a:pPr>
            <a:r>
              <a:rPr dirty="0" sz="2000">
                <a:solidFill>
                  <a:srgbClr val="D9D9D9"/>
                </a:solidFill>
                <a:latin typeface="Calibri"/>
                <a:cs typeface="Calibri"/>
              </a:rPr>
              <a:t>Pick</a:t>
            </a:r>
            <a:r>
              <a:rPr dirty="0" sz="2000" spc="-8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00" spc="-35">
                <a:solidFill>
                  <a:srgbClr val="D9D9D9"/>
                </a:solidFill>
                <a:latin typeface="Calibri"/>
                <a:cs typeface="Calibri"/>
              </a:rPr>
              <a:t>the</a:t>
            </a:r>
            <a:r>
              <a:rPr dirty="0" sz="2000" spc="-8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D9D9D9"/>
                </a:solidFill>
                <a:latin typeface="Calibri"/>
                <a:cs typeface="Calibri"/>
              </a:rPr>
              <a:t>smallest edge</a:t>
            </a:r>
            <a:r>
              <a:rPr dirty="0" sz="2000" spc="-114">
                <a:solidFill>
                  <a:srgbClr val="D9D9D9"/>
                </a:solidFill>
                <a:latin typeface="Calibri"/>
                <a:cs typeface="Calibri"/>
              </a:rPr>
              <a:t> (u,</a:t>
            </a:r>
            <a:r>
              <a:rPr dirty="0" sz="2000" spc="-11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D9D9D9"/>
                </a:solidFill>
                <a:latin typeface="Calibri"/>
                <a:cs typeface="Calibri"/>
              </a:rPr>
              <a:t>v)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873597" y="3640351"/>
            <a:ext cx="2847975" cy="2151380"/>
            <a:chOff x="5873597" y="3640351"/>
            <a:chExt cx="2847975" cy="2151380"/>
          </a:xfrm>
        </p:grpSpPr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75196" y="3640351"/>
              <a:ext cx="228599" cy="4381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73597" y="3848059"/>
              <a:ext cx="2847974" cy="194309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631535" y="4437264"/>
            <a:ext cx="1349375" cy="83502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algn="ctr" marL="12700" marR="5080">
              <a:lnSpc>
                <a:spcPts val="1970"/>
              </a:lnSpc>
              <a:spcBef>
                <a:spcPts val="555"/>
              </a:spcBef>
            </a:pPr>
            <a:r>
              <a:rPr dirty="0" sz="2000" spc="-20">
                <a:solidFill>
                  <a:srgbClr val="D9D9D9"/>
                </a:solidFill>
                <a:latin typeface="Calibri"/>
                <a:cs typeface="Calibri"/>
              </a:rPr>
              <a:t>Do</a:t>
            </a:r>
            <a:r>
              <a:rPr dirty="0" sz="2000" spc="-114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00" spc="-125">
                <a:solidFill>
                  <a:srgbClr val="D9D9D9"/>
                </a:solidFill>
                <a:latin typeface="Calibri"/>
                <a:cs typeface="Calibri"/>
              </a:rPr>
              <a:t>u</a:t>
            </a:r>
            <a:r>
              <a:rPr dirty="0" sz="2000" spc="-114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00" spc="-40">
                <a:solidFill>
                  <a:srgbClr val="D9D9D9"/>
                </a:solidFill>
                <a:latin typeface="Calibri"/>
                <a:cs typeface="Calibri"/>
              </a:rPr>
              <a:t>and</a:t>
            </a:r>
            <a:r>
              <a:rPr dirty="0" sz="2000" spc="-114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00" spc="-50">
                <a:solidFill>
                  <a:srgbClr val="D9D9D9"/>
                </a:solidFill>
                <a:latin typeface="Calibri"/>
                <a:cs typeface="Calibri"/>
              </a:rPr>
              <a:t>v belong</a:t>
            </a:r>
            <a:r>
              <a:rPr dirty="0" sz="2000" spc="-9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D9D9D9"/>
                </a:solidFill>
                <a:latin typeface="Calibri"/>
                <a:cs typeface="Calibri"/>
              </a:rPr>
              <a:t>to</a:t>
            </a:r>
            <a:r>
              <a:rPr dirty="0" sz="2000" spc="-9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D9D9D9"/>
                </a:solidFill>
                <a:latin typeface="Calibri"/>
                <a:cs typeface="Calibri"/>
              </a:rPr>
              <a:t>the </a:t>
            </a:r>
            <a:r>
              <a:rPr dirty="0" sz="2000">
                <a:solidFill>
                  <a:srgbClr val="D9D9D9"/>
                </a:solidFill>
                <a:latin typeface="Calibri"/>
                <a:cs typeface="Calibri"/>
              </a:rPr>
              <a:t>same</a:t>
            </a:r>
            <a:r>
              <a:rPr dirty="0" sz="2000" spc="-11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D9D9D9"/>
                </a:solidFill>
                <a:latin typeface="Calibri"/>
                <a:cs typeface="Calibri"/>
              </a:rPr>
              <a:t>set?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487731" y="4285339"/>
            <a:ext cx="2409190" cy="1285875"/>
            <a:chOff x="8487731" y="4285339"/>
            <a:chExt cx="2409190" cy="1285875"/>
          </a:xfrm>
        </p:grpSpPr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87731" y="4711686"/>
              <a:ext cx="876299" cy="43814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43999" y="4285339"/>
              <a:ext cx="1752599" cy="128587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9639060" y="4605142"/>
            <a:ext cx="893444" cy="57912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 marR="5080" indent="36830">
              <a:lnSpc>
                <a:spcPts val="1970"/>
              </a:lnSpc>
              <a:spcBef>
                <a:spcPts val="515"/>
              </a:spcBef>
            </a:pPr>
            <a:r>
              <a:rPr dirty="0" sz="2000" spc="-10">
                <a:solidFill>
                  <a:srgbClr val="D9D9D9"/>
                </a:solidFill>
                <a:latin typeface="Calibri"/>
                <a:cs typeface="Calibri"/>
              </a:rPr>
              <a:t>Discard </a:t>
            </a:r>
            <a:r>
              <a:rPr dirty="0" sz="2000" spc="-55">
                <a:solidFill>
                  <a:srgbClr val="D9D9D9"/>
                </a:solidFill>
                <a:latin typeface="Calibri"/>
                <a:cs typeface="Calibri"/>
              </a:rPr>
              <a:t>the</a:t>
            </a:r>
            <a:r>
              <a:rPr dirty="0" sz="2000" spc="-11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00" spc="-30">
                <a:solidFill>
                  <a:srgbClr val="D9D9D9"/>
                </a:solidFill>
                <a:latin typeface="Calibri"/>
                <a:cs typeface="Calibri"/>
              </a:rPr>
              <a:t>edge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873597" y="5564381"/>
            <a:ext cx="2847975" cy="1512570"/>
            <a:chOff x="5873597" y="5564381"/>
            <a:chExt cx="2847975" cy="1512570"/>
          </a:xfrm>
        </p:grpSpPr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75196" y="5564381"/>
              <a:ext cx="228599" cy="65722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73597" y="5990729"/>
              <a:ext cx="2847974" cy="108584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6363986" y="6161295"/>
            <a:ext cx="1884680" cy="59182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 marR="5080" indent="45085">
              <a:lnSpc>
                <a:spcPct val="80000"/>
              </a:lnSpc>
              <a:spcBef>
                <a:spcPts val="615"/>
              </a:spcBef>
            </a:pPr>
            <a:r>
              <a:rPr dirty="0" sz="2050" spc="-30">
                <a:solidFill>
                  <a:srgbClr val="D9D9D9"/>
                </a:solidFill>
                <a:latin typeface="Calibri"/>
                <a:cs typeface="Calibri"/>
              </a:rPr>
              <a:t>Add</a:t>
            </a:r>
            <a:r>
              <a:rPr dirty="0" sz="2050" spc="-11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50" spc="-20">
                <a:solidFill>
                  <a:srgbClr val="D9D9D9"/>
                </a:solidFill>
                <a:latin typeface="Calibri"/>
                <a:cs typeface="Calibri"/>
              </a:rPr>
              <a:t>edge</a:t>
            </a:r>
            <a:r>
              <a:rPr dirty="0" sz="2050" spc="-10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D9D9D9"/>
                </a:solidFill>
                <a:latin typeface="Calibri"/>
                <a:cs typeface="Calibri"/>
              </a:rPr>
              <a:t>to</a:t>
            </a:r>
            <a:r>
              <a:rPr dirty="0" sz="2050" spc="-11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50" spc="-25">
                <a:solidFill>
                  <a:srgbClr val="D9D9D9"/>
                </a:solidFill>
                <a:latin typeface="Calibri"/>
                <a:cs typeface="Calibri"/>
              </a:rPr>
              <a:t>MST </a:t>
            </a:r>
            <a:r>
              <a:rPr dirty="0" sz="2050" spc="-40">
                <a:solidFill>
                  <a:srgbClr val="D9D9D9"/>
                </a:solidFill>
                <a:latin typeface="Calibri"/>
                <a:cs typeface="Calibri"/>
              </a:rPr>
              <a:t>and</a:t>
            </a:r>
            <a:r>
              <a:rPr dirty="0" sz="2050" spc="-10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50" spc="-100">
                <a:solidFill>
                  <a:srgbClr val="D9D9D9"/>
                </a:solidFill>
                <a:latin typeface="Calibri"/>
                <a:cs typeface="Calibri"/>
              </a:rPr>
              <a:t>union </a:t>
            </a:r>
            <a:r>
              <a:rPr dirty="0" sz="2050" spc="-35">
                <a:solidFill>
                  <a:srgbClr val="D9D9D9"/>
                </a:solidFill>
                <a:latin typeface="Calibri"/>
                <a:cs typeface="Calibri"/>
              </a:rPr>
              <a:t>the</a:t>
            </a:r>
            <a:r>
              <a:rPr dirty="0" sz="2050" spc="-1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50" spc="30">
                <a:solidFill>
                  <a:srgbClr val="D9D9D9"/>
                </a:solidFill>
                <a:latin typeface="Calibri"/>
                <a:cs typeface="Calibri"/>
              </a:rPr>
              <a:t>sets</a:t>
            </a:r>
            <a:endParaRPr sz="20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873597" y="6854356"/>
            <a:ext cx="2847975" cy="2151380"/>
            <a:chOff x="5873597" y="6854356"/>
            <a:chExt cx="2847975" cy="2151380"/>
          </a:xfrm>
        </p:grpSpPr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75196" y="6854356"/>
              <a:ext cx="228599" cy="43814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73597" y="7062063"/>
              <a:ext cx="2847974" cy="1943099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6533423" y="7767918"/>
            <a:ext cx="1545590" cy="5791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2185"/>
              </a:lnSpc>
              <a:spcBef>
                <a:spcPts val="90"/>
              </a:spcBef>
            </a:pPr>
            <a:r>
              <a:rPr dirty="0" sz="2000" spc="-40">
                <a:solidFill>
                  <a:srgbClr val="D9D9D9"/>
                </a:solidFill>
                <a:latin typeface="Calibri"/>
                <a:cs typeface="Calibri"/>
              </a:rPr>
              <a:t>Have</a:t>
            </a:r>
            <a:r>
              <a:rPr dirty="0" sz="2000" spc="-11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00" spc="-50">
                <a:solidFill>
                  <a:srgbClr val="D9D9D9"/>
                </a:solidFill>
                <a:latin typeface="Calibri"/>
                <a:cs typeface="Calibri"/>
              </a:rPr>
              <a:t>we</a:t>
            </a:r>
            <a:r>
              <a:rPr dirty="0" sz="2000" spc="-11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D9D9D9"/>
                </a:solidFill>
                <a:latin typeface="Calibri"/>
                <a:cs typeface="Calibri"/>
              </a:rPr>
              <a:t>added</a:t>
            </a:r>
            <a:endParaRPr sz="2000">
              <a:latin typeface="Calibri"/>
              <a:cs typeface="Calibri"/>
            </a:endParaRPr>
          </a:p>
          <a:p>
            <a:pPr marL="114300">
              <a:lnSpc>
                <a:spcPts val="2185"/>
              </a:lnSpc>
            </a:pPr>
            <a:r>
              <a:rPr dirty="0" sz="2000" spc="-280">
                <a:solidFill>
                  <a:srgbClr val="D9D9D9"/>
                </a:solidFill>
                <a:latin typeface="Calibri"/>
                <a:cs typeface="Calibri"/>
              </a:rPr>
              <a:t>\V|</a:t>
            </a:r>
            <a:r>
              <a:rPr dirty="0" sz="2000" spc="-13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D9D9D9"/>
                </a:solidFill>
                <a:latin typeface="Calibri"/>
                <a:cs typeface="Calibri"/>
              </a:rPr>
              <a:t>–</a:t>
            </a:r>
            <a:r>
              <a:rPr dirty="0" sz="2000" spc="-13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00" spc="-254">
                <a:solidFill>
                  <a:srgbClr val="D9D9D9"/>
                </a:solidFill>
                <a:latin typeface="Calibri"/>
                <a:cs typeface="Calibri"/>
              </a:rPr>
              <a:t>1</a:t>
            </a:r>
            <a:r>
              <a:rPr dirty="0" sz="2000" spc="-13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D9D9D9"/>
                </a:solidFill>
                <a:latin typeface="Calibri"/>
                <a:cs typeface="Calibri"/>
              </a:rPr>
              <a:t>edges?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092354" y="8778385"/>
            <a:ext cx="2628900" cy="1303020"/>
            <a:chOff x="6092354" y="8778385"/>
            <a:chExt cx="2628900" cy="1303020"/>
          </a:xfrm>
        </p:grpSpPr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175196" y="8778385"/>
              <a:ext cx="228599" cy="43814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92354" y="9204733"/>
              <a:ext cx="2628899" cy="876299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6655795" y="9376640"/>
            <a:ext cx="130111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b="1">
                <a:solidFill>
                  <a:srgbClr val="D9D9D9"/>
                </a:solidFill>
                <a:latin typeface="Calibri"/>
                <a:cs typeface="Calibri"/>
              </a:rPr>
              <a:t>Return</a:t>
            </a:r>
            <a:r>
              <a:rPr dirty="0" sz="2000" spc="-40" b="1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000" spc="30" b="1">
                <a:solidFill>
                  <a:srgbClr val="D9D9D9"/>
                </a:solidFill>
                <a:latin typeface="Calibri"/>
                <a:cs typeface="Calibri"/>
              </a:rPr>
              <a:t>MST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487731" y="3214004"/>
            <a:ext cx="2847974" cy="4933949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747195" y="426347"/>
            <a:ext cx="6115049" cy="5791199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12131447" y="425177"/>
            <a:ext cx="1833245" cy="3816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300" spc="75" b="1">
                <a:solidFill>
                  <a:srgbClr val="DD783B"/>
                </a:solidFill>
                <a:latin typeface="Calibri"/>
                <a:cs typeface="Calibri"/>
              </a:rPr>
              <a:t>PSEUDOCODE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3570153" y="4316717"/>
            <a:ext cx="2488565" cy="940435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894"/>
              </a:spcBef>
            </a:pPr>
            <a:r>
              <a:rPr dirty="0" sz="2300">
                <a:solidFill>
                  <a:srgbClr val="D9D9D9"/>
                </a:solidFill>
                <a:latin typeface="Calibri"/>
                <a:cs typeface="Calibri"/>
              </a:rPr>
              <a:t>MST</a:t>
            </a:r>
            <a:r>
              <a:rPr dirty="0" sz="2300" spc="-14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00" spc="-735">
                <a:solidFill>
                  <a:srgbClr val="D9D9D9"/>
                </a:solidFill>
                <a:latin typeface="Calibri"/>
                <a:cs typeface="Calibri"/>
              </a:rPr>
              <a:t>←</a:t>
            </a:r>
            <a:r>
              <a:rPr dirty="0" sz="2300" spc="-13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D9D9D9"/>
                </a:solidFill>
                <a:latin typeface="Calibri"/>
                <a:cs typeface="Calibri"/>
              </a:rPr>
              <a:t>MST</a:t>
            </a:r>
            <a:r>
              <a:rPr dirty="0" sz="2300" spc="-14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D9D9D9"/>
                </a:solidFill>
                <a:latin typeface="Calibri"/>
                <a:cs typeface="Calibri"/>
              </a:rPr>
              <a:t>U</a:t>
            </a:r>
            <a:r>
              <a:rPr dirty="0" sz="2300" spc="26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00" spc="-90">
                <a:solidFill>
                  <a:srgbClr val="D9D9D9"/>
                </a:solidFill>
                <a:latin typeface="Calibri"/>
                <a:cs typeface="Calibri"/>
              </a:rPr>
              <a:t>{{u,</a:t>
            </a:r>
            <a:r>
              <a:rPr dirty="0" sz="2300" spc="-13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00" spc="-25">
                <a:solidFill>
                  <a:srgbClr val="D9D9D9"/>
                </a:solidFill>
                <a:latin typeface="Calibri"/>
                <a:cs typeface="Calibri"/>
              </a:rPr>
              <a:t>v}}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2350" b="1">
                <a:solidFill>
                  <a:srgbClr val="DD783B"/>
                </a:solidFill>
                <a:latin typeface="Calibri"/>
                <a:cs typeface="Calibri"/>
              </a:rPr>
              <a:t>Union</a:t>
            </a:r>
            <a:r>
              <a:rPr dirty="0" sz="2350">
                <a:solidFill>
                  <a:srgbClr val="D9D9D9"/>
                </a:solidFill>
                <a:latin typeface="Calibri"/>
                <a:cs typeface="Calibri"/>
              </a:rPr>
              <a:t>(u,</a:t>
            </a:r>
            <a:r>
              <a:rPr dirty="0" sz="2350" spc="15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 spc="-25">
                <a:solidFill>
                  <a:srgbClr val="D9D9D9"/>
                </a:solidFill>
                <a:latin typeface="Calibri"/>
                <a:cs typeface="Calibri"/>
              </a:rPr>
              <a:t>v)</a:t>
            </a:r>
            <a:endParaRPr sz="2350">
              <a:latin typeface="Calibri"/>
              <a:cs typeface="Calibri"/>
            </a:endParaRPr>
          </a:p>
        </p:txBody>
      </p:sp>
      <p:pic>
        <p:nvPicPr>
          <p:cNvPr id="43" name="object 4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747195" y="6635715"/>
            <a:ext cx="6334124" cy="3228974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12105543" y="6510942"/>
            <a:ext cx="4355465" cy="351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60" b="1">
                <a:solidFill>
                  <a:srgbClr val="DD783B"/>
                </a:solidFill>
                <a:latin typeface="Calibri"/>
                <a:cs typeface="Calibri"/>
              </a:rPr>
              <a:t>CYCLE</a:t>
            </a:r>
            <a:r>
              <a:rPr dirty="0" sz="2100" spc="-90" b="1">
                <a:solidFill>
                  <a:srgbClr val="DD783B"/>
                </a:solidFill>
                <a:latin typeface="Calibri"/>
                <a:cs typeface="Calibri"/>
              </a:rPr>
              <a:t> </a:t>
            </a:r>
            <a:r>
              <a:rPr dirty="0" sz="2100" spc="65" b="1">
                <a:solidFill>
                  <a:srgbClr val="DD783B"/>
                </a:solidFill>
                <a:latin typeface="Calibri"/>
                <a:cs typeface="Calibri"/>
              </a:rPr>
              <a:t>DETECTION</a:t>
            </a:r>
            <a:r>
              <a:rPr dirty="0" sz="2100" spc="-85" b="1">
                <a:solidFill>
                  <a:srgbClr val="DD783B"/>
                </a:solidFill>
                <a:latin typeface="Calibri"/>
                <a:cs typeface="Calibri"/>
              </a:rPr>
              <a:t> </a:t>
            </a:r>
            <a:r>
              <a:rPr dirty="0" sz="2100" spc="50" b="1">
                <a:solidFill>
                  <a:srgbClr val="DD783B"/>
                </a:solidFill>
                <a:latin typeface="Calibri"/>
                <a:cs typeface="Calibri"/>
              </a:rPr>
              <a:t>WITH</a:t>
            </a:r>
            <a:r>
              <a:rPr dirty="0" sz="2100" spc="-85" b="1">
                <a:solidFill>
                  <a:srgbClr val="DD783B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DD783B"/>
                </a:solidFill>
                <a:latin typeface="Calibri"/>
                <a:cs typeface="Calibri"/>
              </a:rPr>
              <a:t>UNION-</a:t>
            </a:r>
            <a:r>
              <a:rPr dirty="0" sz="2100" spc="-20" b="1">
                <a:solidFill>
                  <a:srgbClr val="DD783B"/>
                </a:solidFill>
                <a:latin typeface="Calibri"/>
                <a:cs typeface="Calibri"/>
              </a:rPr>
              <a:t>FIND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126285" y="7109917"/>
            <a:ext cx="497776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70">
                <a:solidFill>
                  <a:srgbClr val="D9D9D9"/>
                </a:solidFill>
                <a:latin typeface="Calibri"/>
                <a:cs typeface="Calibri"/>
              </a:rPr>
              <a:t>Union-Find</a:t>
            </a:r>
            <a:r>
              <a:rPr dirty="0" sz="2150" spc="-1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150" spc="-10">
                <a:solidFill>
                  <a:srgbClr val="D9D9D9"/>
                </a:solidFill>
                <a:latin typeface="Calibri"/>
                <a:cs typeface="Calibri"/>
              </a:rPr>
              <a:t>maintains</a:t>
            </a:r>
            <a:r>
              <a:rPr dirty="0" sz="2150" spc="-1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150" spc="-35">
                <a:solidFill>
                  <a:srgbClr val="D9D9D9"/>
                </a:solidFill>
                <a:latin typeface="Calibri"/>
                <a:cs typeface="Calibri"/>
              </a:rPr>
              <a:t>disjoint</a:t>
            </a:r>
            <a:r>
              <a:rPr dirty="0" sz="2150" spc="-9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150" spc="55">
                <a:solidFill>
                  <a:srgbClr val="D9D9D9"/>
                </a:solidFill>
                <a:latin typeface="Calibri"/>
                <a:cs typeface="Calibri"/>
              </a:rPr>
              <a:t>sets</a:t>
            </a:r>
            <a:r>
              <a:rPr dirty="0" sz="2150" spc="-1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150" spc="50">
                <a:solidFill>
                  <a:srgbClr val="D9D9D9"/>
                </a:solidFill>
                <a:latin typeface="Calibri"/>
                <a:cs typeface="Calibri"/>
              </a:rPr>
              <a:t>of</a:t>
            </a:r>
            <a:r>
              <a:rPr dirty="0" sz="2150" spc="-9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150" spc="-10">
                <a:solidFill>
                  <a:srgbClr val="D9D9D9"/>
                </a:solidFill>
                <a:latin typeface="Calibri"/>
                <a:cs typeface="Calibri"/>
              </a:rPr>
              <a:t>vertices.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2130463" y="7670627"/>
            <a:ext cx="4521835" cy="351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-90">
                <a:solidFill>
                  <a:srgbClr val="D9D9D9"/>
                </a:solidFill>
                <a:latin typeface="Calibri"/>
                <a:cs typeface="Calibri"/>
              </a:rPr>
              <a:t>Find(x)</a:t>
            </a:r>
            <a:r>
              <a:rPr dirty="0" sz="2100" spc="-6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D9D9D9"/>
                </a:solidFill>
                <a:latin typeface="Calibri"/>
                <a:cs typeface="Calibri"/>
              </a:rPr>
              <a:t>returns</a:t>
            </a:r>
            <a:r>
              <a:rPr dirty="0" sz="2100" spc="-5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100" spc="-35">
                <a:solidFill>
                  <a:srgbClr val="D9D9D9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D9D9D9"/>
                </a:solidFill>
                <a:latin typeface="Calibri"/>
                <a:cs typeface="Calibri"/>
              </a:rPr>
              <a:t>set</a:t>
            </a:r>
            <a:r>
              <a:rPr dirty="0" sz="2100" spc="-6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D9D9D9"/>
                </a:solidFill>
                <a:latin typeface="Calibri"/>
                <a:cs typeface="Calibri"/>
              </a:rPr>
              <a:t>representative</a:t>
            </a:r>
            <a:r>
              <a:rPr dirty="0" sz="2100" spc="-5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100" spc="50">
                <a:solidFill>
                  <a:srgbClr val="D9D9D9"/>
                </a:solidFill>
                <a:latin typeface="Calibri"/>
                <a:cs typeface="Calibri"/>
              </a:rPr>
              <a:t>of</a:t>
            </a:r>
            <a:r>
              <a:rPr dirty="0" sz="2100" spc="-5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D9D9D9"/>
                </a:solidFill>
                <a:latin typeface="Calibri"/>
                <a:cs typeface="Calibri"/>
              </a:rPr>
              <a:t>x.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2130235" y="8270671"/>
            <a:ext cx="4564380" cy="11036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40"/>
              </a:spcBef>
            </a:pPr>
            <a:r>
              <a:rPr dirty="0" sz="2350" spc="-60">
                <a:solidFill>
                  <a:srgbClr val="D9D9D9"/>
                </a:solidFill>
                <a:latin typeface="Calibri"/>
                <a:cs typeface="Calibri"/>
              </a:rPr>
              <a:t>Union(x,</a:t>
            </a:r>
            <a:r>
              <a:rPr dirty="0" sz="2350" spc="23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 spc="-85">
                <a:solidFill>
                  <a:srgbClr val="D9D9D9"/>
                </a:solidFill>
                <a:latin typeface="Calibri"/>
                <a:cs typeface="Calibri"/>
              </a:rPr>
              <a:t>y)</a:t>
            </a:r>
            <a:r>
              <a:rPr dirty="0" sz="2350" spc="-15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>
                <a:solidFill>
                  <a:srgbClr val="D9D9D9"/>
                </a:solidFill>
                <a:latin typeface="Calibri"/>
                <a:cs typeface="Calibri"/>
              </a:rPr>
              <a:t>merges</a:t>
            </a:r>
            <a:r>
              <a:rPr dirty="0" sz="2350" spc="-15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 spc="-35">
                <a:solidFill>
                  <a:srgbClr val="D9D9D9"/>
                </a:solidFill>
                <a:latin typeface="Calibri"/>
                <a:cs typeface="Calibri"/>
              </a:rPr>
              <a:t>the</a:t>
            </a:r>
            <a:r>
              <a:rPr dirty="0" sz="2350" spc="-15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 spc="60">
                <a:solidFill>
                  <a:srgbClr val="D9D9D9"/>
                </a:solidFill>
                <a:latin typeface="Calibri"/>
                <a:cs typeface="Calibri"/>
              </a:rPr>
              <a:t>sets</a:t>
            </a:r>
            <a:r>
              <a:rPr dirty="0" sz="2350" spc="-15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 spc="-10">
                <a:solidFill>
                  <a:srgbClr val="D9D9D9"/>
                </a:solidFill>
                <a:latin typeface="Calibri"/>
                <a:cs typeface="Calibri"/>
              </a:rPr>
              <a:t>containing </a:t>
            </a:r>
            <a:r>
              <a:rPr dirty="0" sz="2350">
                <a:solidFill>
                  <a:srgbClr val="D9D9D9"/>
                </a:solidFill>
                <a:latin typeface="Calibri"/>
                <a:cs typeface="Calibri"/>
              </a:rPr>
              <a:t>x</a:t>
            </a:r>
            <a:r>
              <a:rPr dirty="0" sz="2350" spc="-13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 spc="-40">
                <a:solidFill>
                  <a:srgbClr val="D9D9D9"/>
                </a:solidFill>
                <a:latin typeface="Calibri"/>
                <a:cs typeface="Calibri"/>
              </a:rPr>
              <a:t>and</a:t>
            </a:r>
            <a:r>
              <a:rPr dirty="0" sz="2350" spc="-12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 spc="-30">
                <a:solidFill>
                  <a:srgbClr val="D9D9D9"/>
                </a:solidFill>
                <a:latin typeface="Calibri"/>
                <a:cs typeface="Calibri"/>
              </a:rPr>
              <a:t>y.</a:t>
            </a:r>
            <a:r>
              <a:rPr dirty="0" sz="2350" spc="-13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 spc="-60">
                <a:solidFill>
                  <a:srgbClr val="D9D9D9"/>
                </a:solidFill>
                <a:latin typeface="Calibri"/>
                <a:cs typeface="Calibri"/>
              </a:rPr>
              <a:t>An</a:t>
            </a:r>
            <a:r>
              <a:rPr dirty="0" sz="2350" spc="-12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 spc="-10">
                <a:solidFill>
                  <a:srgbClr val="D9D9D9"/>
                </a:solidFill>
                <a:latin typeface="Calibri"/>
                <a:cs typeface="Calibri"/>
              </a:rPr>
              <a:t>edge</a:t>
            </a:r>
            <a:r>
              <a:rPr dirty="0" sz="2350" spc="-12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>
                <a:solidFill>
                  <a:srgbClr val="D9D9D9"/>
                </a:solidFill>
                <a:latin typeface="Calibri"/>
                <a:cs typeface="Calibri"/>
              </a:rPr>
              <a:t>is</a:t>
            </a:r>
            <a:r>
              <a:rPr dirty="0" sz="2350" spc="-13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 spc="-25">
                <a:solidFill>
                  <a:srgbClr val="D9D9D9"/>
                </a:solidFill>
                <a:latin typeface="Calibri"/>
                <a:cs typeface="Calibri"/>
              </a:rPr>
              <a:t>added</a:t>
            </a:r>
            <a:r>
              <a:rPr dirty="0" sz="2350" spc="-12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 spc="-65">
                <a:solidFill>
                  <a:srgbClr val="D9D9D9"/>
                </a:solidFill>
                <a:latin typeface="Calibri"/>
                <a:cs typeface="Calibri"/>
              </a:rPr>
              <a:t>only</a:t>
            </a:r>
            <a:r>
              <a:rPr dirty="0" sz="2350" spc="-13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 spc="80">
                <a:solidFill>
                  <a:srgbClr val="D9D9D9"/>
                </a:solidFill>
                <a:latin typeface="Calibri"/>
                <a:cs typeface="Calibri"/>
              </a:rPr>
              <a:t>if</a:t>
            </a:r>
            <a:r>
              <a:rPr dirty="0" sz="2350" spc="-12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 spc="-25">
                <a:solidFill>
                  <a:srgbClr val="D9D9D9"/>
                </a:solidFill>
                <a:latin typeface="Calibri"/>
                <a:cs typeface="Calibri"/>
              </a:rPr>
              <a:t>its </a:t>
            </a:r>
            <a:r>
              <a:rPr dirty="0" sz="2350" spc="-45">
                <a:solidFill>
                  <a:srgbClr val="D9D9D9"/>
                </a:solidFill>
                <a:latin typeface="Calibri"/>
                <a:cs typeface="Calibri"/>
              </a:rPr>
              <a:t>endpoints </a:t>
            </a:r>
            <a:r>
              <a:rPr dirty="0" sz="2350" spc="55">
                <a:solidFill>
                  <a:srgbClr val="D9D9D9"/>
                </a:solidFill>
                <a:latin typeface="Calibri"/>
                <a:cs typeface="Calibri"/>
              </a:rPr>
              <a:t>are</a:t>
            </a:r>
            <a:r>
              <a:rPr dirty="0" sz="2350" spc="-4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 spc="-95">
                <a:solidFill>
                  <a:srgbClr val="D9D9D9"/>
                </a:solidFill>
                <a:latin typeface="Calibri"/>
                <a:cs typeface="Calibri"/>
              </a:rPr>
              <a:t>in</a:t>
            </a:r>
            <a:r>
              <a:rPr dirty="0" sz="2350" spc="-4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>
                <a:solidFill>
                  <a:srgbClr val="D9D9D9"/>
                </a:solidFill>
                <a:latin typeface="Calibri"/>
                <a:cs typeface="Calibri"/>
              </a:rPr>
              <a:t>different</a:t>
            </a:r>
            <a:r>
              <a:rPr dirty="0" sz="2350" spc="-4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 spc="-10">
                <a:solidFill>
                  <a:srgbClr val="D9D9D9"/>
                </a:solidFill>
                <a:latin typeface="Calibri"/>
                <a:cs typeface="Calibri"/>
              </a:rPr>
              <a:t>sets.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095281" y="3965080"/>
            <a:ext cx="2361565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130">
                <a:solidFill>
                  <a:srgbClr val="DD783B"/>
                </a:solidFill>
                <a:latin typeface="Calibri"/>
                <a:cs typeface="Calibri"/>
              </a:rPr>
              <a:t>if</a:t>
            </a:r>
            <a:r>
              <a:rPr dirty="0" sz="2350" spc="-10">
                <a:solidFill>
                  <a:srgbClr val="DD783B"/>
                </a:solidFill>
                <a:latin typeface="Calibri"/>
                <a:cs typeface="Calibri"/>
              </a:rPr>
              <a:t> </a:t>
            </a:r>
            <a:r>
              <a:rPr dirty="0" sz="2350">
                <a:solidFill>
                  <a:srgbClr val="D9D9D9"/>
                </a:solidFill>
                <a:latin typeface="Calibri"/>
                <a:cs typeface="Calibri"/>
              </a:rPr>
              <a:t>Find(u)</a:t>
            </a:r>
            <a:r>
              <a:rPr dirty="0" sz="2350" spc="1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>
                <a:solidFill>
                  <a:srgbClr val="D9D9D9"/>
                </a:solidFill>
                <a:latin typeface="Calibri"/>
                <a:cs typeface="Calibri"/>
              </a:rPr>
              <a:t>≠</a:t>
            </a:r>
            <a:r>
              <a:rPr dirty="0" sz="2350" spc="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50" spc="-10">
                <a:solidFill>
                  <a:srgbClr val="D9D9D9"/>
                </a:solidFill>
                <a:latin typeface="Calibri"/>
                <a:cs typeface="Calibri"/>
              </a:rPr>
              <a:t>Find(v):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2846033" y="5441622"/>
            <a:ext cx="1311275" cy="351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50" b="1">
                <a:solidFill>
                  <a:srgbClr val="DD783B"/>
                </a:solidFill>
                <a:latin typeface="Calibri"/>
                <a:cs typeface="Calibri"/>
              </a:rPr>
              <a:t>return</a:t>
            </a:r>
            <a:r>
              <a:rPr dirty="0" sz="2100" spc="-140" b="1">
                <a:solidFill>
                  <a:srgbClr val="DD783B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D9D9D9"/>
                </a:solidFill>
                <a:latin typeface="Calibri"/>
                <a:cs typeface="Calibri"/>
              </a:rPr>
              <a:t>MST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2137299" y="1017699"/>
            <a:ext cx="4941570" cy="274828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150" spc="-10">
                <a:solidFill>
                  <a:srgbClr val="D9D9D9"/>
                </a:solidFill>
                <a:latin typeface="Calibri"/>
                <a:cs typeface="Calibri"/>
              </a:rPr>
              <a:t>Kruskal(G):</a:t>
            </a:r>
            <a:endParaRPr sz="2150">
              <a:latin typeface="Calibri"/>
              <a:cs typeface="Calibri"/>
            </a:endParaRPr>
          </a:p>
          <a:p>
            <a:pPr marL="831215">
              <a:lnSpc>
                <a:spcPct val="100000"/>
              </a:lnSpc>
              <a:spcBef>
                <a:spcPts val="735"/>
              </a:spcBef>
            </a:pPr>
            <a:r>
              <a:rPr dirty="0" sz="2300">
                <a:solidFill>
                  <a:srgbClr val="D9D9D9"/>
                </a:solidFill>
                <a:latin typeface="Calibri"/>
                <a:cs typeface="Calibri"/>
              </a:rPr>
              <a:t>MST</a:t>
            </a:r>
            <a:r>
              <a:rPr dirty="0" sz="2300" spc="-11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00" spc="-735">
                <a:solidFill>
                  <a:srgbClr val="D9D9D9"/>
                </a:solidFill>
                <a:latin typeface="Calibri"/>
                <a:cs typeface="Calibri"/>
              </a:rPr>
              <a:t>←</a:t>
            </a:r>
            <a:r>
              <a:rPr dirty="0" sz="2300" spc="-10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D9D9D9"/>
                </a:solidFill>
                <a:latin typeface="Calibri"/>
                <a:cs typeface="Calibri"/>
              </a:rPr>
              <a:t>Ø</a:t>
            </a:r>
            <a:endParaRPr sz="2300">
              <a:latin typeface="Calibri"/>
              <a:cs typeface="Calibri"/>
            </a:endParaRPr>
          </a:p>
          <a:p>
            <a:pPr marL="447675">
              <a:lnSpc>
                <a:spcPct val="100000"/>
              </a:lnSpc>
              <a:spcBef>
                <a:spcPts val="1305"/>
              </a:spcBef>
            </a:pPr>
            <a:r>
              <a:rPr dirty="0" sz="2100" spc="110" b="1">
                <a:solidFill>
                  <a:srgbClr val="DD783B"/>
                </a:solidFill>
                <a:latin typeface="Calibri"/>
                <a:cs typeface="Calibri"/>
              </a:rPr>
              <a:t>for</a:t>
            </a:r>
            <a:r>
              <a:rPr dirty="0" sz="2100" spc="-130" b="1">
                <a:solidFill>
                  <a:srgbClr val="DD783B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D9D9D9"/>
                </a:solidFill>
                <a:latin typeface="Calibri"/>
                <a:cs typeface="Calibri"/>
              </a:rPr>
              <a:t>each</a:t>
            </a:r>
            <a:r>
              <a:rPr dirty="0" sz="2100" spc="-10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D9D9D9"/>
                </a:solidFill>
                <a:latin typeface="Calibri"/>
                <a:cs typeface="Calibri"/>
              </a:rPr>
              <a:t>vertex</a:t>
            </a:r>
            <a:r>
              <a:rPr dirty="0" sz="2100" spc="-11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D9D9D9"/>
                </a:solidFill>
                <a:latin typeface="Calibri"/>
                <a:cs typeface="Calibri"/>
              </a:rPr>
              <a:t>v</a:t>
            </a:r>
            <a:r>
              <a:rPr dirty="0" sz="2100" spc="-10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100" spc="-90">
                <a:solidFill>
                  <a:srgbClr val="D9D9D9"/>
                </a:solidFill>
                <a:latin typeface="Calibri"/>
                <a:cs typeface="Calibri"/>
              </a:rPr>
              <a:t>in</a:t>
            </a:r>
            <a:r>
              <a:rPr dirty="0" sz="2100" spc="-10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D9D9D9"/>
                </a:solidFill>
                <a:latin typeface="Calibri"/>
                <a:cs typeface="Calibri"/>
              </a:rPr>
              <a:t>G:</a:t>
            </a:r>
            <a:endParaRPr sz="2100">
              <a:latin typeface="Calibri"/>
              <a:cs typeface="Calibri"/>
            </a:endParaRPr>
          </a:p>
          <a:p>
            <a:pPr marL="721995">
              <a:lnSpc>
                <a:spcPct val="100000"/>
              </a:lnSpc>
              <a:spcBef>
                <a:spcPts val="1035"/>
              </a:spcBef>
            </a:pPr>
            <a:r>
              <a:rPr dirty="0" sz="2100" spc="-10" b="1">
                <a:solidFill>
                  <a:srgbClr val="DD783B"/>
                </a:solidFill>
                <a:latin typeface="Calibri"/>
                <a:cs typeface="Calibri"/>
              </a:rPr>
              <a:t>MakeSet</a:t>
            </a:r>
            <a:r>
              <a:rPr dirty="0" sz="2100" spc="-10">
                <a:solidFill>
                  <a:srgbClr val="D9D9D9"/>
                </a:solidFill>
                <a:latin typeface="Calibri"/>
                <a:cs typeface="Calibri"/>
              </a:rPr>
              <a:t>(v)</a:t>
            </a:r>
            <a:endParaRPr sz="2100">
              <a:latin typeface="Calibri"/>
              <a:cs typeface="Calibri"/>
            </a:endParaRPr>
          </a:p>
          <a:p>
            <a:pPr marL="685800" marR="5080" indent="-288925">
              <a:lnSpc>
                <a:spcPct val="105200"/>
              </a:lnSpc>
              <a:spcBef>
                <a:spcPts val="1110"/>
              </a:spcBef>
            </a:pPr>
            <a:r>
              <a:rPr dirty="0" sz="2450">
                <a:solidFill>
                  <a:srgbClr val="D9D9D9"/>
                </a:solidFill>
                <a:latin typeface="Calibri"/>
                <a:cs typeface="Calibri"/>
              </a:rPr>
              <a:t>sort</a:t>
            </a:r>
            <a:r>
              <a:rPr dirty="0" sz="2450" spc="-8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D9D9D9"/>
                </a:solidFill>
                <a:latin typeface="Calibri"/>
                <a:cs typeface="Calibri"/>
              </a:rPr>
              <a:t>edges</a:t>
            </a:r>
            <a:r>
              <a:rPr dirty="0" sz="2450" spc="-8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D9D9D9"/>
                </a:solidFill>
                <a:latin typeface="Calibri"/>
                <a:cs typeface="Calibri"/>
              </a:rPr>
              <a:t>by</a:t>
            </a:r>
            <a:r>
              <a:rPr dirty="0" sz="2450" spc="-8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450" spc="-90">
                <a:solidFill>
                  <a:srgbClr val="D9D9D9"/>
                </a:solidFill>
                <a:latin typeface="Calibri"/>
                <a:cs typeface="Calibri"/>
              </a:rPr>
              <a:t>non-</a:t>
            </a:r>
            <a:r>
              <a:rPr dirty="0" sz="2450" spc="-10">
                <a:solidFill>
                  <a:srgbClr val="D9D9D9"/>
                </a:solidFill>
                <a:latin typeface="Calibri"/>
                <a:cs typeface="Calibri"/>
              </a:rPr>
              <a:t>decreasing</a:t>
            </a:r>
            <a:r>
              <a:rPr dirty="0" sz="2450" spc="-8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D9D9D9"/>
                </a:solidFill>
                <a:latin typeface="Calibri"/>
                <a:cs typeface="Calibri"/>
              </a:rPr>
              <a:t>weight </a:t>
            </a:r>
            <a:r>
              <a:rPr dirty="0" sz="2450" spc="65">
                <a:solidFill>
                  <a:srgbClr val="D9D9D9"/>
                </a:solidFill>
                <a:latin typeface="Calibri"/>
                <a:cs typeface="Calibri"/>
              </a:rPr>
              <a:t>for</a:t>
            </a:r>
            <a:r>
              <a:rPr dirty="0" sz="2450" spc="-15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D9D9D9"/>
                </a:solidFill>
                <a:latin typeface="Calibri"/>
                <a:cs typeface="Calibri"/>
              </a:rPr>
              <a:t>each</a:t>
            </a:r>
            <a:r>
              <a:rPr dirty="0" sz="2450" spc="-15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D9D9D9"/>
                </a:solidFill>
                <a:latin typeface="Calibri"/>
                <a:cs typeface="Calibri"/>
              </a:rPr>
              <a:t>edge</a:t>
            </a:r>
            <a:r>
              <a:rPr dirty="0" sz="2450" spc="-145">
                <a:solidFill>
                  <a:srgbClr val="D9D9D9"/>
                </a:solidFill>
                <a:latin typeface="Calibri"/>
                <a:cs typeface="Calibri"/>
              </a:rPr>
              <a:t> (u,</a:t>
            </a:r>
            <a:r>
              <a:rPr dirty="0" sz="2450" spc="-15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450" spc="-125">
                <a:solidFill>
                  <a:srgbClr val="D9D9D9"/>
                </a:solidFill>
                <a:latin typeface="Calibri"/>
                <a:cs typeface="Calibri"/>
              </a:rPr>
              <a:t>v)</a:t>
            </a:r>
            <a:r>
              <a:rPr dirty="0" sz="2450" spc="-14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450" spc="-120">
                <a:solidFill>
                  <a:srgbClr val="D9D9D9"/>
                </a:solidFill>
                <a:latin typeface="Calibri"/>
                <a:cs typeface="Calibri"/>
              </a:rPr>
              <a:t>in</a:t>
            </a:r>
            <a:r>
              <a:rPr dirty="0" sz="2450" spc="-15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D9D9D9"/>
                </a:solidFill>
                <a:latin typeface="Calibri"/>
                <a:cs typeface="Calibri"/>
              </a:rPr>
              <a:t>sorted</a:t>
            </a:r>
            <a:r>
              <a:rPr dirty="0" sz="2450" spc="-15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D9D9D9"/>
                </a:solidFill>
                <a:latin typeface="Calibri"/>
                <a:cs typeface="Calibri"/>
              </a:rPr>
              <a:t>order: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020570" y="577115"/>
            <a:ext cx="570865" cy="3054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00" spc="114" b="1">
                <a:solidFill>
                  <a:srgbClr val="D9D9D9"/>
                </a:solidFill>
                <a:latin typeface="Calibri"/>
                <a:cs typeface="Calibri"/>
              </a:rPr>
              <a:t>Start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728945" y="4452816"/>
            <a:ext cx="376555" cy="3175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900" spc="-25">
                <a:solidFill>
                  <a:srgbClr val="D9D9D9"/>
                </a:solidFill>
                <a:latin typeface="Calibri"/>
                <a:cs typeface="Calibri"/>
              </a:rPr>
              <a:t>Yes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630593" y="8790338"/>
            <a:ext cx="376555" cy="3175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900" spc="-25">
                <a:solidFill>
                  <a:srgbClr val="D9D9D9"/>
                </a:solidFill>
                <a:latin typeface="Calibri"/>
                <a:cs typeface="Calibri"/>
              </a:rPr>
              <a:t>Yes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246596" y="7614522"/>
            <a:ext cx="30543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-50">
                <a:solidFill>
                  <a:srgbClr val="D9D9D9"/>
                </a:solidFill>
                <a:latin typeface="Calibri"/>
                <a:cs typeface="Calibri"/>
              </a:rPr>
              <a:t>No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666041" y="5641552"/>
            <a:ext cx="30543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-50">
                <a:solidFill>
                  <a:srgbClr val="D9D9D9"/>
                </a:solidFill>
                <a:latin typeface="Calibri"/>
                <a:cs typeface="Calibri"/>
              </a:rPr>
              <a:t>No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4016" y="-17525"/>
            <a:ext cx="7153909" cy="2126615"/>
          </a:xfrm>
          <a:prstGeom prst="rect"/>
        </p:spPr>
        <p:txBody>
          <a:bodyPr wrap="square" lIns="0" tIns="509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15"/>
              </a:spcBef>
            </a:pPr>
            <a:r>
              <a:rPr dirty="0" sz="6850">
                <a:solidFill>
                  <a:srgbClr val="FFFFFF"/>
                </a:solidFill>
              </a:rPr>
              <a:t>Working</a:t>
            </a:r>
            <a:r>
              <a:rPr dirty="0" sz="6850" spc="-430">
                <a:solidFill>
                  <a:srgbClr val="FFFFFF"/>
                </a:solidFill>
              </a:rPr>
              <a:t> </a:t>
            </a:r>
            <a:r>
              <a:rPr dirty="0" sz="6850" spc="-10">
                <a:solidFill>
                  <a:srgbClr val="FFFFFF"/>
                </a:solidFill>
              </a:rPr>
              <a:t>Example</a:t>
            </a:r>
            <a:endParaRPr sz="6850"/>
          </a:p>
          <a:p>
            <a:pPr marL="57785">
              <a:lnSpc>
                <a:spcPct val="100000"/>
              </a:lnSpc>
              <a:spcBef>
                <a:spcPts val="1405"/>
              </a:spcBef>
            </a:pPr>
            <a:r>
              <a:rPr dirty="0" sz="2500" spc="-80" b="0">
                <a:solidFill>
                  <a:srgbClr val="FFFFFF"/>
                </a:solidFill>
                <a:latin typeface="Calibri"/>
                <a:cs typeface="Calibri"/>
              </a:rPr>
              <a:t>Prim’s</a:t>
            </a:r>
            <a:r>
              <a:rPr dirty="0" sz="2500" spc="-14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140" b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500" spc="-14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90" b="0">
                <a:solidFill>
                  <a:srgbClr val="FFFFFF"/>
                </a:solidFill>
                <a:latin typeface="Calibri"/>
                <a:cs typeface="Calibri"/>
              </a:rPr>
              <a:t>Kruskal’s</a:t>
            </a:r>
            <a:r>
              <a:rPr dirty="0" sz="2500" spc="-14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100" b="0">
                <a:solidFill>
                  <a:srgbClr val="FFFFFF"/>
                </a:solidFill>
                <a:latin typeface="Calibri"/>
                <a:cs typeface="Calibri"/>
              </a:rPr>
              <a:t>algorithms</a:t>
            </a:r>
            <a:r>
              <a:rPr dirty="0" sz="2500" spc="-14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204" b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500" spc="-14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140" b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500" spc="-14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95" b="0">
                <a:solidFill>
                  <a:srgbClr val="FFFFFF"/>
                </a:solidFill>
                <a:latin typeface="Calibri"/>
                <a:cs typeface="Calibri"/>
              </a:rPr>
              <a:t>same</a:t>
            </a:r>
            <a:r>
              <a:rPr dirty="0" sz="2500" spc="-14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125" b="0">
                <a:solidFill>
                  <a:srgbClr val="FFFFFF"/>
                </a:solidFill>
                <a:latin typeface="Calibri"/>
                <a:cs typeface="Calibri"/>
              </a:rPr>
              <a:t>weighted</a:t>
            </a:r>
            <a:r>
              <a:rPr dirty="0" sz="2500" spc="-14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10" b="0">
                <a:solidFill>
                  <a:srgbClr val="FFFFFF"/>
                </a:solidFill>
                <a:latin typeface="Calibri"/>
                <a:cs typeface="Calibri"/>
              </a:rPr>
              <a:t>graph.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330" y="2569016"/>
            <a:ext cx="4581524" cy="6572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0028" y="2654686"/>
            <a:ext cx="2498090" cy="3740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250" spc="55" b="1">
                <a:solidFill>
                  <a:srgbClr val="FFFFFF"/>
                </a:solidFill>
                <a:latin typeface="Calibri"/>
                <a:cs typeface="Calibri"/>
              </a:rPr>
              <a:t>PRIM’S</a:t>
            </a:r>
            <a:r>
              <a:rPr dirty="0" sz="2250" spc="-19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50" spc="35" b="1">
                <a:solidFill>
                  <a:srgbClr val="FFFFFF"/>
                </a:solidFill>
                <a:latin typeface="Calibri"/>
                <a:cs typeface="Calibri"/>
              </a:rPr>
              <a:t>ALGORITHM</a:t>
            </a:r>
            <a:endParaRPr sz="22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330" y="3421711"/>
            <a:ext cx="666749" cy="6572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59464" y="3214004"/>
            <a:ext cx="1971674" cy="866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5330" y="4285339"/>
            <a:ext cx="666749" cy="8667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79750" y="4547711"/>
            <a:ext cx="789305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b="1">
                <a:solidFill>
                  <a:srgbClr val="FFFFFF"/>
                </a:solidFill>
                <a:latin typeface="Calibri"/>
                <a:cs typeface="Calibri"/>
              </a:rPr>
              <a:t>B–</a:t>
            </a:r>
            <a:r>
              <a:rPr dirty="0" sz="2200" spc="310" b="1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 sz="2200" spc="-1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95" b="1">
                <a:solidFill>
                  <a:srgbClr val="FFFFFF"/>
                </a:solidFill>
                <a:latin typeface="Calibri"/>
                <a:cs typeface="Calibri"/>
              </a:rPr>
              <a:t>(1)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5330" y="5356673"/>
            <a:ext cx="666749" cy="86677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2603195" y="4285339"/>
            <a:ext cx="2628900" cy="4300855"/>
            <a:chOff x="2603195" y="4285339"/>
            <a:chExt cx="2628900" cy="4300855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59464" y="4285339"/>
              <a:ext cx="1971674" cy="8667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03195" y="5138034"/>
              <a:ext cx="2628899" cy="13049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03195" y="6209368"/>
              <a:ext cx="2628899" cy="2376258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479675" y="5581977"/>
            <a:ext cx="798195" cy="377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 b="1">
                <a:solidFill>
                  <a:srgbClr val="FFFFFF"/>
                </a:solidFill>
                <a:latin typeface="Calibri"/>
                <a:cs typeface="Calibri"/>
              </a:rPr>
              <a:t>B–F</a:t>
            </a:r>
            <a:r>
              <a:rPr dirty="0" sz="2300" spc="-19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spc="-100" b="1">
                <a:solidFill>
                  <a:srgbClr val="FFFFFF"/>
                </a:solidFill>
                <a:latin typeface="Calibri"/>
                <a:cs typeface="Calibri"/>
              </a:rPr>
              <a:t>(2)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45330" y="6428008"/>
            <a:ext cx="666749" cy="86677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479830" y="6633916"/>
            <a:ext cx="79121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40" b="1">
                <a:solidFill>
                  <a:srgbClr val="FFFFFF"/>
                </a:solidFill>
                <a:latin typeface="Calibri"/>
                <a:cs typeface="Calibri"/>
              </a:rPr>
              <a:t>F–</a:t>
            </a:r>
            <a:r>
              <a:rPr dirty="0" sz="2400" spc="-55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2400" spc="-204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10" b="1">
                <a:solidFill>
                  <a:srgbClr val="FFFFFF"/>
                </a:solidFill>
                <a:latin typeface="Calibri"/>
                <a:cs typeface="Calibri"/>
              </a:rPr>
              <a:t>(2)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45330" y="7499343"/>
            <a:ext cx="666749" cy="86677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479528" y="7690495"/>
            <a:ext cx="812165" cy="377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 spc="-25" b="1">
                <a:solidFill>
                  <a:srgbClr val="FFFFFF"/>
                </a:solidFill>
                <a:latin typeface="Calibri"/>
                <a:cs typeface="Calibri"/>
              </a:rPr>
              <a:t>F–</a:t>
            </a:r>
            <a:r>
              <a:rPr dirty="0" sz="2300" b="1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dirty="0" sz="2300" spc="-1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spc="-105" b="1">
                <a:solidFill>
                  <a:srgbClr val="FFFFFF"/>
                </a:solidFill>
                <a:latin typeface="Calibri"/>
                <a:cs typeface="Calibri"/>
              </a:rPr>
              <a:t>(3)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622220" y="2569016"/>
            <a:ext cx="4581524" cy="65722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2895997" y="2648081"/>
            <a:ext cx="3066415" cy="3816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300" spc="75" b="1">
                <a:solidFill>
                  <a:srgbClr val="FFFFFF"/>
                </a:solidFill>
                <a:latin typeface="Calibri"/>
                <a:cs typeface="Calibri"/>
              </a:rPr>
              <a:t>KRUSKAL’S</a:t>
            </a:r>
            <a:r>
              <a:rPr dirty="0" sz="2300" spc="-1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spc="35" b="1">
                <a:solidFill>
                  <a:srgbClr val="FFFFFF"/>
                </a:solidFill>
                <a:latin typeface="Calibri"/>
                <a:cs typeface="Calibri"/>
              </a:rPr>
              <a:t>ALGORITHM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622220" y="3421711"/>
            <a:ext cx="666749" cy="65722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236353" y="3640351"/>
            <a:ext cx="1971674" cy="43814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2622220" y="4285339"/>
            <a:ext cx="666749" cy="86677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4798842" y="4285339"/>
            <a:ext cx="2409824" cy="86677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2622220" y="5356673"/>
            <a:ext cx="666749" cy="866774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13534753" y="5581977"/>
            <a:ext cx="798195" cy="377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 b="1">
                <a:solidFill>
                  <a:srgbClr val="FFFFFF"/>
                </a:solidFill>
                <a:latin typeface="Calibri"/>
                <a:cs typeface="Calibri"/>
              </a:rPr>
              <a:t>B–F</a:t>
            </a:r>
            <a:r>
              <a:rPr dirty="0" sz="2300" spc="-19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spc="-100" b="1">
                <a:solidFill>
                  <a:srgbClr val="FFFFFF"/>
                </a:solidFill>
                <a:latin typeface="Calibri"/>
                <a:cs typeface="Calibri"/>
              </a:rPr>
              <a:t>(2)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2622220" y="6428008"/>
            <a:ext cx="666749" cy="866774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14798842" y="5356673"/>
            <a:ext cx="2409825" cy="3009900"/>
            <a:chOff x="14798842" y="5356673"/>
            <a:chExt cx="2409825" cy="3009900"/>
          </a:xfrm>
        </p:grpSpPr>
        <p:pic>
          <p:nvPicPr>
            <p:cNvPr id="30" name="object 3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798842" y="5356673"/>
              <a:ext cx="2409824" cy="108584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798842" y="6209368"/>
              <a:ext cx="2409824" cy="2157183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3534907" y="6633916"/>
            <a:ext cx="79121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40" b="1">
                <a:solidFill>
                  <a:srgbClr val="FFFFFF"/>
                </a:solidFill>
                <a:latin typeface="Calibri"/>
                <a:cs typeface="Calibri"/>
              </a:rPr>
              <a:t>F–</a:t>
            </a:r>
            <a:r>
              <a:rPr dirty="0" sz="2400" spc="-55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2400" spc="-204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10" b="1">
                <a:solidFill>
                  <a:srgbClr val="FFFFFF"/>
                </a:solidFill>
                <a:latin typeface="Calibri"/>
                <a:cs typeface="Calibri"/>
              </a:rPr>
              <a:t>(2)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2622220" y="7499343"/>
            <a:ext cx="666749" cy="866774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3534606" y="7690495"/>
            <a:ext cx="812165" cy="377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 spc="-25" b="1">
                <a:solidFill>
                  <a:srgbClr val="FFFFFF"/>
                </a:solidFill>
                <a:latin typeface="Calibri"/>
                <a:cs typeface="Calibri"/>
              </a:rPr>
              <a:t>F–</a:t>
            </a:r>
            <a:r>
              <a:rPr dirty="0" sz="2300" b="1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dirty="0" sz="2300" spc="-1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spc="-105" b="1">
                <a:solidFill>
                  <a:srgbClr val="FFFFFF"/>
                </a:solidFill>
                <a:latin typeface="Calibri"/>
                <a:cs typeface="Calibri"/>
              </a:rPr>
              <a:t>(3)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35" name="object 3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092354" y="1924029"/>
            <a:ext cx="5667374" cy="5791199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8915222" y="7338273"/>
            <a:ext cx="253365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125" b="1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541543" y="5455667"/>
            <a:ext cx="239395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3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31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134487" y="8778385"/>
            <a:ext cx="10239375" cy="1085850"/>
            <a:chOff x="4134487" y="8778385"/>
            <a:chExt cx="10239375" cy="1085850"/>
          </a:xfrm>
        </p:grpSpPr>
        <p:pic>
          <p:nvPicPr>
            <p:cNvPr id="39" name="object 3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134487" y="8778385"/>
              <a:ext cx="10239374" cy="108584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353243" y="9204733"/>
              <a:ext cx="876299" cy="22859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529865" y="9204733"/>
              <a:ext cx="876299" cy="228599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7515026" y="9068338"/>
            <a:ext cx="1198880" cy="3486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00" b="1">
                <a:solidFill>
                  <a:srgbClr val="E7793A"/>
                </a:solidFill>
                <a:latin typeface="Calibri"/>
                <a:cs typeface="Calibri"/>
              </a:rPr>
              <a:t>prim’s</a:t>
            </a:r>
            <a:r>
              <a:rPr dirty="0" sz="2100" spc="-195" b="1">
                <a:solidFill>
                  <a:srgbClr val="E7793A"/>
                </a:solidFill>
                <a:latin typeface="Calibri"/>
                <a:cs typeface="Calibri"/>
              </a:rPr>
              <a:t> </a:t>
            </a:r>
            <a:r>
              <a:rPr dirty="0" sz="2100" spc="-25" b="1">
                <a:solidFill>
                  <a:srgbClr val="E7793A"/>
                </a:solidFill>
                <a:latin typeface="Calibri"/>
                <a:cs typeface="Calibri"/>
              </a:rPr>
              <a:t>mst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925243" y="8778385"/>
            <a:ext cx="1312545" cy="876300"/>
            <a:chOff x="8925243" y="8778385"/>
            <a:chExt cx="1312545" cy="876300"/>
          </a:xfrm>
        </p:grpSpPr>
        <p:pic>
          <p:nvPicPr>
            <p:cNvPr id="44" name="object 4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925243" y="8778385"/>
              <a:ext cx="219074" cy="87629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351817" y="9204733"/>
              <a:ext cx="885824" cy="228599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10274299" y="9068338"/>
            <a:ext cx="1380490" cy="3486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00" spc="-80">
                <a:solidFill>
                  <a:srgbClr val="FFFFFF"/>
                </a:solidFill>
                <a:latin typeface="Calibri"/>
                <a:cs typeface="Calibri"/>
              </a:rPr>
              <a:t>kruskal’s</a:t>
            </a:r>
            <a:r>
              <a:rPr dirty="0" sz="21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47" name="object 47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1747195" y="9204733"/>
            <a:ext cx="885824" cy="228599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12712103" y="9068338"/>
            <a:ext cx="1501140" cy="3486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00" b="1">
                <a:solidFill>
                  <a:srgbClr val="189A9A"/>
                </a:solidFill>
                <a:latin typeface="Calibri"/>
                <a:cs typeface="Calibri"/>
              </a:rPr>
              <a:t>kruskal’s</a:t>
            </a:r>
            <a:r>
              <a:rPr dirty="0" sz="2100" spc="-35" b="1">
                <a:solidFill>
                  <a:srgbClr val="189A9A"/>
                </a:solidFill>
                <a:latin typeface="Calibri"/>
                <a:cs typeface="Calibri"/>
              </a:rPr>
              <a:t> </a:t>
            </a:r>
            <a:r>
              <a:rPr dirty="0" sz="2100" spc="-25" b="1">
                <a:solidFill>
                  <a:srgbClr val="189A9A"/>
                </a:solidFill>
                <a:latin typeface="Calibri"/>
                <a:cs typeface="Calibri"/>
              </a:rPr>
              <a:t>mst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479372" y="3494054"/>
            <a:ext cx="831850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50" spc="-10" b="1">
                <a:solidFill>
                  <a:srgbClr val="FFFFFF"/>
                </a:solidFill>
                <a:latin typeface="Calibri"/>
                <a:cs typeface="Calibri"/>
              </a:rPr>
              <a:t>A–</a:t>
            </a:r>
            <a:r>
              <a:rPr dirty="0" sz="2250" spc="75" b="1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dirty="0" sz="2250" spc="-204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50" spc="-90" b="1">
                <a:solidFill>
                  <a:srgbClr val="FFFFFF"/>
                </a:solidFill>
                <a:latin typeface="Calibri"/>
                <a:cs typeface="Calibri"/>
              </a:rPr>
              <a:t>(2)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3534829" y="3508512"/>
            <a:ext cx="789305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b="1">
                <a:solidFill>
                  <a:srgbClr val="FFFFFF"/>
                </a:solidFill>
                <a:latin typeface="Calibri"/>
                <a:cs typeface="Calibri"/>
              </a:rPr>
              <a:t>B–</a:t>
            </a:r>
            <a:r>
              <a:rPr dirty="0" sz="2200" spc="310" b="1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 sz="2200" spc="-1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95" b="1">
                <a:solidFill>
                  <a:srgbClr val="FFFFFF"/>
                </a:solidFill>
                <a:latin typeface="Calibri"/>
                <a:cs typeface="Calibri"/>
              </a:rPr>
              <a:t>(1)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211166" y="9068338"/>
            <a:ext cx="1147445" cy="3486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00" spc="-80">
                <a:solidFill>
                  <a:srgbClr val="FFFFFF"/>
                </a:solidFill>
                <a:latin typeface="Calibri"/>
                <a:cs typeface="Calibri"/>
              </a:rPr>
              <a:t>prim’s</a:t>
            </a:r>
            <a:r>
              <a:rPr dirty="0" sz="21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148512" y="5997858"/>
            <a:ext cx="247650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9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817863" y="4597200"/>
            <a:ext cx="247650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9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0336035" y="2850142"/>
            <a:ext cx="246379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75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907212" y="4597200"/>
            <a:ext cx="241300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45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49972" y="2850142"/>
            <a:ext cx="247650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9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549972" y="5997858"/>
            <a:ext cx="246379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75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994399" y="3723671"/>
            <a:ext cx="191770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-355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79338" y="3479774"/>
            <a:ext cx="170180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-32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57281" y="4473790"/>
            <a:ext cx="219075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6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57281" y="5543109"/>
            <a:ext cx="217804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45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57103" y="6597367"/>
            <a:ext cx="213360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2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57281" y="7651627"/>
            <a:ext cx="212090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5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2980837" y="3479774"/>
            <a:ext cx="170180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-32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2958781" y="4473790"/>
            <a:ext cx="1407160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88010" algn="l"/>
              </a:tabLst>
            </a:pPr>
            <a:r>
              <a:rPr dirty="0" sz="2750" spc="6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dirty="0" sz="275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250" spc="-10" b="1">
                <a:solidFill>
                  <a:srgbClr val="FFFFFF"/>
                </a:solidFill>
                <a:latin typeface="Calibri"/>
                <a:cs typeface="Calibri"/>
              </a:rPr>
              <a:t>A–</a:t>
            </a:r>
            <a:r>
              <a:rPr dirty="0" sz="2250" spc="75" b="1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dirty="0" sz="2250" spc="-204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50" spc="-90" b="1">
                <a:solidFill>
                  <a:srgbClr val="FFFFFF"/>
                </a:solidFill>
                <a:latin typeface="Calibri"/>
                <a:cs typeface="Calibri"/>
              </a:rPr>
              <a:t>(2)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2958781" y="5543109"/>
            <a:ext cx="217804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45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2958603" y="6597367"/>
            <a:ext cx="213360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2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2958781" y="7651627"/>
            <a:ext cx="212090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5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290688" y="5455667"/>
            <a:ext cx="241300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45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3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77284" y="166189"/>
            <a:ext cx="12639040" cy="225234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80645">
              <a:lnSpc>
                <a:spcPts val="8660"/>
              </a:lnSpc>
              <a:spcBef>
                <a:spcPts val="120"/>
              </a:spcBef>
            </a:pPr>
            <a:r>
              <a:rPr dirty="0" sz="7800" spc="-114">
                <a:solidFill>
                  <a:srgbClr val="F4F4F4"/>
                </a:solidFill>
              </a:rPr>
              <a:t>Comparison</a:t>
            </a:r>
            <a:r>
              <a:rPr dirty="0" sz="7800" spc="-955">
                <a:solidFill>
                  <a:srgbClr val="F4F4F4"/>
                </a:solidFill>
              </a:rPr>
              <a:t> </a:t>
            </a:r>
            <a:r>
              <a:rPr dirty="0" sz="7800" spc="105">
                <a:solidFill>
                  <a:srgbClr val="F4F4F4"/>
                </a:solidFill>
              </a:rPr>
              <a:t>of</a:t>
            </a:r>
            <a:endParaRPr sz="7800"/>
          </a:p>
          <a:p>
            <a:pPr marL="12700">
              <a:lnSpc>
                <a:spcPts val="8840"/>
              </a:lnSpc>
            </a:pPr>
            <a:r>
              <a:rPr dirty="0" sz="7950" spc="-35">
                <a:solidFill>
                  <a:srgbClr val="D86112"/>
                </a:solidFill>
              </a:rPr>
              <a:t>Prim’s</a:t>
            </a:r>
            <a:r>
              <a:rPr dirty="0" sz="7950" spc="-1025">
                <a:solidFill>
                  <a:srgbClr val="D86112"/>
                </a:solidFill>
              </a:rPr>
              <a:t> </a:t>
            </a:r>
            <a:r>
              <a:rPr dirty="0" sz="7950" spc="-220">
                <a:solidFill>
                  <a:srgbClr val="D86112"/>
                </a:solidFill>
              </a:rPr>
              <a:t>and</a:t>
            </a:r>
            <a:r>
              <a:rPr dirty="0" sz="7950" spc="-1019">
                <a:solidFill>
                  <a:srgbClr val="D86112"/>
                </a:solidFill>
              </a:rPr>
              <a:t> </a:t>
            </a:r>
            <a:r>
              <a:rPr dirty="0" sz="7950" spc="-20">
                <a:solidFill>
                  <a:srgbClr val="D86112"/>
                </a:solidFill>
              </a:rPr>
              <a:t>Kruskal’s</a:t>
            </a:r>
            <a:r>
              <a:rPr dirty="0" sz="7950" spc="-1019">
                <a:solidFill>
                  <a:srgbClr val="D86112"/>
                </a:solidFill>
              </a:rPr>
              <a:t> </a:t>
            </a:r>
            <a:r>
              <a:rPr dirty="0" sz="7950" spc="-90">
                <a:solidFill>
                  <a:srgbClr val="D86112"/>
                </a:solidFill>
              </a:rPr>
              <a:t>Algorithms</a:t>
            </a:r>
            <a:endParaRPr sz="7950"/>
          </a:p>
        </p:txBody>
      </p:sp>
      <p:grpSp>
        <p:nvGrpSpPr>
          <p:cNvPr id="4" name="object 4"/>
          <p:cNvGrpSpPr/>
          <p:nvPr/>
        </p:nvGrpSpPr>
        <p:grpSpPr>
          <a:xfrm>
            <a:off x="426574" y="2569016"/>
            <a:ext cx="17430750" cy="7293609"/>
            <a:chOff x="426574" y="2569016"/>
            <a:chExt cx="17430750" cy="729360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574" y="2569016"/>
              <a:ext cx="17430749" cy="8667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6574" y="3214004"/>
              <a:ext cx="17430749" cy="6648449"/>
            </a:xfrm>
            <a:prstGeom prst="rect">
              <a:avLst/>
            </a:prstGeom>
          </p:spPr>
        </p:pic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87162" y="2862061"/>
          <a:ext cx="15304135" cy="1760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4365"/>
                <a:gridCol w="7010400"/>
                <a:gridCol w="5043804"/>
              </a:tblGrid>
              <a:tr h="515620">
                <a:tc>
                  <a:txBody>
                    <a:bodyPr/>
                    <a:lstStyle/>
                    <a:p>
                      <a:pPr marL="38100">
                        <a:lnSpc>
                          <a:spcPts val="2390"/>
                        </a:lnSpc>
                      </a:pPr>
                      <a:r>
                        <a:rPr dirty="0" sz="2500" spc="-10" b="1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Attribute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99845">
                        <a:lnSpc>
                          <a:spcPts val="2570"/>
                        </a:lnSpc>
                      </a:pPr>
                      <a:r>
                        <a:rPr dirty="0" sz="2700" spc="-25" b="1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Prim’s</a:t>
                      </a:r>
                      <a:r>
                        <a:rPr dirty="0" sz="2700" spc="-330" b="1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Algorithm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42315">
                        <a:lnSpc>
                          <a:spcPts val="2570"/>
                        </a:lnSpc>
                      </a:pPr>
                      <a:r>
                        <a:rPr dirty="0" sz="2700" spc="-20" b="1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Kruskal’s</a:t>
                      </a:r>
                      <a:r>
                        <a:rPr dirty="0" sz="2700" spc="-295" b="1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Algorithm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708660"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2650" spc="-10" b="1">
                          <a:solidFill>
                            <a:srgbClr val="DF8C58"/>
                          </a:solidFill>
                          <a:latin typeface="Calibri"/>
                          <a:cs typeface="Calibri"/>
                        </a:rPr>
                        <a:t>Approach</a:t>
                      </a:r>
                      <a:endParaRPr sz="2650">
                        <a:latin typeface="Calibri"/>
                        <a:cs typeface="Calibri"/>
                      </a:endParaRPr>
                    </a:p>
                  </a:txBody>
                  <a:tcPr marL="0" marR="0" marB="0" marT="88900"/>
                </a:tc>
                <a:tc>
                  <a:txBody>
                    <a:bodyPr/>
                    <a:lstStyle/>
                    <a:p>
                      <a:pPr marL="127000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2750" spc="-105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Grow</a:t>
                      </a:r>
                      <a:r>
                        <a:rPr dirty="0" sz="2750" spc="-295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750" spc="-29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6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single</a:t>
                      </a:r>
                      <a:r>
                        <a:rPr dirty="0" sz="2750" spc="-29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1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tree</a:t>
                      </a:r>
                      <a:r>
                        <a:rPr dirty="0" sz="2750" spc="-295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1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2750" spc="-29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750" spc="-29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05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starting</a:t>
                      </a:r>
                      <a:r>
                        <a:rPr dirty="0" sz="2750" spc="-295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vertex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85090"/>
                </a:tc>
                <a:tc>
                  <a:txBody>
                    <a:bodyPr/>
                    <a:lstStyle/>
                    <a:p>
                      <a:pPr marL="72263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2750" spc="-204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Build</a:t>
                      </a:r>
                      <a:r>
                        <a:rPr dirty="0" sz="2750" spc="-29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750" spc="-29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8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forest</a:t>
                      </a:r>
                      <a:r>
                        <a:rPr dirty="0" sz="2750" spc="-29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4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2750" spc="-29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65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adding</a:t>
                      </a:r>
                      <a:r>
                        <a:rPr dirty="0" sz="2750" spc="-29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4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safe</a:t>
                      </a:r>
                      <a:r>
                        <a:rPr dirty="0" sz="2750" spc="-285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3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edges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85090"/>
                </a:tc>
              </a:tr>
              <a:tr h="5359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2650" b="1">
                          <a:solidFill>
                            <a:srgbClr val="DF8C58"/>
                          </a:solidFill>
                          <a:latin typeface="Calibri"/>
                          <a:cs typeface="Calibri"/>
                        </a:rPr>
                        <a:t>Starting</a:t>
                      </a:r>
                      <a:r>
                        <a:rPr dirty="0" sz="2650" spc="-140" b="1">
                          <a:solidFill>
                            <a:srgbClr val="DF8C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650" spc="-10" b="1">
                          <a:solidFill>
                            <a:srgbClr val="DF8C58"/>
                          </a:solidFill>
                          <a:latin typeface="Calibri"/>
                          <a:cs typeface="Calibri"/>
                        </a:rPr>
                        <a:t>Point</a:t>
                      </a:r>
                      <a:endParaRPr sz="2650">
                        <a:latin typeface="Calibri"/>
                        <a:cs typeface="Calibri"/>
                      </a:endParaRPr>
                    </a:p>
                  </a:txBody>
                  <a:tcPr marL="0" marR="0" marB="0" marT="103505"/>
                </a:tc>
                <a:tc>
                  <a:txBody>
                    <a:bodyPr/>
                    <a:lstStyle/>
                    <a:p>
                      <a:pPr marL="12833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750" spc="-4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Starts</a:t>
                      </a:r>
                      <a:r>
                        <a:rPr dirty="0" sz="2750" spc="-28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1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2750" spc="-28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7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any</a:t>
                      </a:r>
                      <a:r>
                        <a:rPr dirty="0" sz="2750" spc="-28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85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chosen</a:t>
                      </a:r>
                      <a:r>
                        <a:rPr dirty="0" sz="2750" spc="-275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vertex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99695"/>
                </a:tc>
                <a:tc>
                  <a:txBody>
                    <a:bodyPr/>
                    <a:lstStyle/>
                    <a:p>
                      <a:pPr marL="73596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750" spc="-245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2750" spc="-285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9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specific</a:t>
                      </a:r>
                      <a:r>
                        <a:rPr dirty="0" sz="2750" spc="-285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05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starting</a:t>
                      </a:r>
                      <a:r>
                        <a:rPr dirty="0" sz="2750" spc="-28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20">
                          <a:solidFill>
                            <a:srgbClr val="F4F4F4"/>
                          </a:solidFill>
                          <a:latin typeface="Calibri"/>
                          <a:cs typeface="Calibri"/>
                        </a:rPr>
                        <a:t>point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99695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893624" y="4970798"/>
            <a:ext cx="3136265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-75" b="1">
                <a:solidFill>
                  <a:srgbClr val="DF8C58"/>
                </a:solidFill>
                <a:latin typeface="Calibri"/>
                <a:cs typeface="Calibri"/>
              </a:rPr>
              <a:t>Edge</a:t>
            </a:r>
            <a:r>
              <a:rPr dirty="0" sz="2750" spc="-345" b="1">
                <a:solidFill>
                  <a:srgbClr val="DF8C58"/>
                </a:solidFill>
                <a:latin typeface="Calibri"/>
                <a:cs typeface="Calibri"/>
              </a:rPr>
              <a:t> </a:t>
            </a:r>
            <a:r>
              <a:rPr dirty="0" sz="2750" spc="-55" b="1">
                <a:solidFill>
                  <a:srgbClr val="DF8C58"/>
                </a:solidFill>
                <a:latin typeface="Calibri"/>
                <a:cs typeface="Calibri"/>
              </a:rPr>
              <a:t>Selection</a:t>
            </a:r>
            <a:r>
              <a:rPr dirty="0" sz="2750" spc="-340" b="1">
                <a:solidFill>
                  <a:srgbClr val="DF8C58"/>
                </a:solidFill>
                <a:latin typeface="Calibri"/>
                <a:cs typeface="Calibri"/>
              </a:rPr>
              <a:t> </a:t>
            </a:r>
            <a:r>
              <a:rPr dirty="0" sz="2750" spc="-70" b="1">
                <a:solidFill>
                  <a:srgbClr val="DF8C58"/>
                </a:solidFill>
                <a:latin typeface="Calibri"/>
                <a:cs typeface="Calibri"/>
              </a:rPr>
              <a:t>Method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20544" y="4820189"/>
            <a:ext cx="4679315" cy="78486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 marR="5080">
              <a:lnSpc>
                <a:spcPts val="2670"/>
              </a:lnSpc>
              <a:spcBef>
                <a:spcPts val="720"/>
              </a:spcBef>
            </a:pPr>
            <a:r>
              <a:rPr dirty="0" sz="2750" spc="-145">
                <a:solidFill>
                  <a:srgbClr val="F4F4F4"/>
                </a:solidFill>
                <a:latin typeface="Calibri"/>
                <a:cs typeface="Calibri"/>
              </a:rPr>
              <a:t>Choose</a:t>
            </a:r>
            <a:r>
              <a:rPr dirty="0" sz="2750" spc="-28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265">
                <a:solidFill>
                  <a:srgbClr val="F4F4F4"/>
                </a:solidFill>
                <a:latin typeface="Calibri"/>
                <a:cs typeface="Calibri"/>
              </a:rPr>
              <a:t>minimum</a:t>
            </a:r>
            <a:r>
              <a:rPr dirty="0" sz="2750" spc="-28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35">
                <a:solidFill>
                  <a:srgbClr val="F4F4F4"/>
                </a:solidFill>
                <a:latin typeface="Calibri"/>
                <a:cs typeface="Calibri"/>
              </a:rPr>
              <a:t>edge</a:t>
            </a:r>
            <a:r>
              <a:rPr dirty="0" sz="2750" spc="-28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75">
                <a:solidFill>
                  <a:srgbClr val="F4F4F4"/>
                </a:solidFill>
                <a:latin typeface="Calibri"/>
                <a:cs typeface="Calibri"/>
              </a:rPr>
              <a:t>connecting</a:t>
            </a:r>
            <a:r>
              <a:rPr dirty="0" sz="2750" spc="-28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10">
                <a:solidFill>
                  <a:srgbClr val="F4F4F4"/>
                </a:solidFill>
                <a:latin typeface="Calibri"/>
                <a:cs typeface="Calibri"/>
              </a:rPr>
              <a:t>the tree</a:t>
            </a:r>
            <a:r>
              <a:rPr dirty="0" sz="2750" spc="-30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14">
                <a:solidFill>
                  <a:srgbClr val="F4F4F4"/>
                </a:solidFill>
                <a:latin typeface="Calibri"/>
                <a:cs typeface="Calibri"/>
              </a:rPr>
              <a:t>to</a:t>
            </a:r>
            <a:r>
              <a:rPr dirty="0" sz="2750" spc="-30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4F4F4"/>
                </a:solidFill>
                <a:latin typeface="Calibri"/>
                <a:cs typeface="Calibri"/>
              </a:rPr>
              <a:t>a</a:t>
            </a:r>
            <a:r>
              <a:rPr dirty="0" sz="2750" spc="-30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220">
                <a:solidFill>
                  <a:srgbClr val="F4F4F4"/>
                </a:solidFill>
                <a:latin typeface="Calibri"/>
                <a:cs typeface="Calibri"/>
              </a:rPr>
              <a:t>new</a:t>
            </a:r>
            <a:r>
              <a:rPr dirty="0" sz="2750" spc="-30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F4F4F4"/>
                </a:solidFill>
                <a:latin typeface="Calibri"/>
                <a:cs typeface="Calibri"/>
              </a:rPr>
              <a:t>vertex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83334" y="4820189"/>
            <a:ext cx="4065904" cy="78486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 marR="5080">
              <a:lnSpc>
                <a:spcPts val="2670"/>
              </a:lnSpc>
              <a:spcBef>
                <a:spcPts val="720"/>
              </a:spcBef>
            </a:pPr>
            <a:r>
              <a:rPr dirty="0" sz="2750" spc="-145">
                <a:solidFill>
                  <a:srgbClr val="F4F4F4"/>
                </a:solidFill>
                <a:latin typeface="Calibri"/>
                <a:cs typeface="Calibri"/>
              </a:rPr>
              <a:t>Choose</a:t>
            </a:r>
            <a:r>
              <a:rPr dirty="0" sz="2750" spc="-28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85">
                <a:solidFill>
                  <a:srgbClr val="F4F4F4"/>
                </a:solidFill>
                <a:latin typeface="Calibri"/>
                <a:cs typeface="Calibri"/>
              </a:rPr>
              <a:t>the</a:t>
            </a:r>
            <a:r>
              <a:rPr dirty="0" sz="2750" spc="-28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60">
                <a:solidFill>
                  <a:srgbClr val="F4F4F4"/>
                </a:solidFill>
                <a:latin typeface="Calibri"/>
                <a:cs typeface="Calibri"/>
              </a:rPr>
              <a:t>global</a:t>
            </a:r>
            <a:r>
              <a:rPr dirty="0" sz="2750" spc="-28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265">
                <a:solidFill>
                  <a:srgbClr val="F4F4F4"/>
                </a:solidFill>
                <a:latin typeface="Calibri"/>
                <a:cs typeface="Calibri"/>
              </a:rPr>
              <a:t>minimum</a:t>
            </a:r>
            <a:r>
              <a:rPr dirty="0" sz="2750" spc="-28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90">
                <a:solidFill>
                  <a:srgbClr val="F4F4F4"/>
                </a:solidFill>
                <a:latin typeface="Calibri"/>
                <a:cs typeface="Calibri"/>
              </a:rPr>
              <a:t>edge </a:t>
            </a:r>
            <a:r>
              <a:rPr dirty="0" sz="2750" spc="-135">
                <a:solidFill>
                  <a:srgbClr val="F4F4F4"/>
                </a:solidFill>
                <a:latin typeface="Calibri"/>
                <a:cs typeface="Calibri"/>
              </a:rPr>
              <a:t>that</a:t>
            </a:r>
            <a:r>
              <a:rPr dirty="0" sz="2750" spc="-28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75">
                <a:solidFill>
                  <a:srgbClr val="F4F4F4"/>
                </a:solidFill>
                <a:latin typeface="Calibri"/>
                <a:cs typeface="Calibri"/>
              </a:rPr>
              <a:t>doesn’t</a:t>
            </a:r>
            <a:r>
              <a:rPr dirty="0" sz="2750" spc="-28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10">
                <a:solidFill>
                  <a:srgbClr val="F4F4F4"/>
                </a:solidFill>
                <a:latin typeface="Calibri"/>
                <a:cs typeface="Calibri"/>
              </a:rPr>
              <a:t>form</a:t>
            </a:r>
            <a:r>
              <a:rPr dirty="0" sz="2750" spc="-28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F4F4F4"/>
                </a:solidFill>
                <a:latin typeface="Calibri"/>
                <a:cs typeface="Calibri"/>
              </a:rPr>
              <a:t>a</a:t>
            </a:r>
            <a:r>
              <a:rPr dirty="0" sz="2750" spc="-28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20">
                <a:solidFill>
                  <a:srgbClr val="F4F4F4"/>
                </a:solidFill>
                <a:latin typeface="Calibri"/>
                <a:cs typeface="Calibri"/>
              </a:rPr>
              <a:t>cycle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3684" y="5863850"/>
            <a:ext cx="2134870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b="1">
                <a:solidFill>
                  <a:srgbClr val="DF8C58"/>
                </a:solidFill>
                <a:latin typeface="Calibri"/>
                <a:cs typeface="Calibri"/>
              </a:rPr>
              <a:t>Cycle</a:t>
            </a:r>
            <a:r>
              <a:rPr dirty="0" sz="2650" spc="-190" b="1">
                <a:solidFill>
                  <a:srgbClr val="DF8C58"/>
                </a:solidFill>
                <a:latin typeface="Calibri"/>
                <a:cs typeface="Calibri"/>
              </a:rPr>
              <a:t> </a:t>
            </a:r>
            <a:r>
              <a:rPr dirty="0" sz="2650" spc="-40" b="1">
                <a:solidFill>
                  <a:srgbClr val="DF8C58"/>
                </a:solidFill>
                <a:latin typeface="Calibri"/>
                <a:cs typeface="Calibri"/>
              </a:rPr>
              <a:t>Detection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5355" y="5859387"/>
            <a:ext cx="1590675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-195">
                <a:solidFill>
                  <a:srgbClr val="F4F4F4"/>
                </a:solidFill>
                <a:latin typeface="Calibri"/>
                <a:cs typeface="Calibri"/>
              </a:rPr>
              <a:t>Not</a:t>
            </a:r>
            <a:r>
              <a:rPr dirty="0" sz="2750" spc="-30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50">
                <a:solidFill>
                  <a:srgbClr val="F4F4F4"/>
                </a:solidFill>
                <a:latin typeface="Calibri"/>
                <a:cs typeface="Calibri"/>
              </a:rPr>
              <a:t>required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798054" y="5859387"/>
            <a:ext cx="2677160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-170">
                <a:solidFill>
                  <a:srgbClr val="F4F4F4"/>
                </a:solidFill>
                <a:latin typeface="Calibri"/>
                <a:cs typeface="Calibri"/>
              </a:rPr>
              <a:t>Required</a:t>
            </a:r>
            <a:r>
              <a:rPr dirty="0" sz="2750" spc="-24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270">
                <a:solidFill>
                  <a:srgbClr val="F4F4F4"/>
                </a:solidFill>
                <a:latin typeface="Calibri"/>
                <a:cs typeface="Calibri"/>
              </a:rPr>
              <a:t>(Union–</a:t>
            </a:r>
            <a:r>
              <a:rPr dirty="0" sz="2750" spc="-195">
                <a:solidFill>
                  <a:srgbClr val="F4F4F4"/>
                </a:solidFill>
                <a:latin typeface="Calibri"/>
                <a:cs typeface="Calibri"/>
              </a:rPr>
              <a:t>Find)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7784" y="6563252"/>
            <a:ext cx="272796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DF8C58"/>
                </a:solidFill>
                <a:latin typeface="Calibri"/>
                <a:cs typeface="Calibri"/>
              </a:rPr>
              <a:t>Data</a:t>
            </a:r>
            <a:r>
              <a:rPr dirty="0" sz="2600" spc="-195" b="1">
                <a:solidFill>
                  <a:srgbClr val="DF8C58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DF8C58"/>
                </a:solidFill>
                <a:latin typeface="Calibri"/>
                <a:cs typeface="Calibri"/>
              </a:rPr>
              <a:t>Structure</a:t>
            </a:r>
            <a:r>
              <a:rPr dirty="0" sz="2600" spc="-195" b="1">
                <a:solidFill>
                  <a:srgbClr val="DF8C58"/>
                </a:solidFill>
                <a:latin typeface="Calibri"/>
                <a:cs typeface="Calibri"/>
              </a:rPr>
              <a:t> </a:t>
            </a:r>
            <a:r>
              <a:rPr dirty="0" sz="2600" spc="-30" b="1">
                <a:solidFill>
                  <a:srgbClr val="DF8C58"/>
                </a:solidFill>
                <a:latin typeface="Calibri"/>
                <a:cs typeface="Calibri"/>
              </a:rPr>
              <a:t>Used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37437" y="6552186"/>
            <a:ext cx="3220720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-125">
                <a:solidFill>
                  <a:srgbClr val="F4F4F4"/>
                </a:solidFill>
                <a:latin typeface="Calibri"/>
                <a:cs typeface="Calibri"/>
              </a:rPr>
              <a:t>Priority</a:t>
            </a:r>
            <a:r>
              <a:rPr dirty="0" sz="2750" spc="-24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229">
                <a:solidFill>
                  <a:srgbClr val="F4F4F4"/>
                </a:solidFill>
                <a:latin typeface="Calibri"/>
                <a:cs typeface="Calibri"/>
              </a:rPr>
              <a:t>Queue</a:t>
            </a:r>
            <a:r>
              <a:rPr dirty="0" sz="2750" spc="-24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235">
                <a:solidFill>
                  <a:srgbClr val="F4F4F4"/>
                </a:solidFill>
                <a:latin typeface="Calibri"/>
                <a:cs typeface="Calibri"/>
              </a:rPr>
              <a:t>(Min-</a:t>
            </a:r>
            <a:r>
              <a:rPr dirty="0" sz="2750" spc="-150">
                <a:solidFill>
                  <a:srgbClr val="F4F4F4"/>
                </a:solidFill>
                <a:latin typeface="Calibri"/>
                <a:cs typeface="Calibri"/>
              </a:rPr>
              <a:t>Heap)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794775" y="6552186"/>
            <a:ext cx="2938780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-175">
                <a:solidFill>
                  <a:srgbClr val="F4F4F4"/>
                </a:solidFill>
                <a:latin typeface="Calibri"/>
                <a:cs typeface="Calibri"/>
              </a:rPr>
              <a:t>Disjoint</a:t>
            </a:r>
            <a:r>
              <a:rPr dirty="0" sz="2750" spc="-27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50">
                <a:solidFill>
                  <a:srgbClr val="F4F4F4"/>
                </a:solidFill>
                <a:latin typeface="Calibri"/>
                <a:cs typeface="Calibri"/>
              </a:rPr>
              <a:t>Set</a:t>
            </a:r>
            <a:r>
              <a:rPr dirty="0" sz="2750" spc="-270">
                <a:solidFill>
                  <a:srgbClr val="F4F4F4"/>
                </a:solidFill>
                <a:latin typeface="Calibri"/>
                <a:cs typeface="Calibri"/>
              </a:rPr>
              <a:t> (Union–</a:t>
            </a:r>
            <a:r>
              <a:rPr dirty="0" sz="2750" spc="-190">
                <a:solidFill>
                  <a:srgbClr val="F4F4F4"/>
                </a:solidFill>
                <a:latin typeface="Calibri"/>
                <a:cs typeface="Calibri"/>
              </a:rPr>
              <a:t>Find)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1996" y="7214862"/>
            <a:ext cx="2327910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-90" b="1">
                <a:solidFill>
                  <a:srgbClr val="DF8C58"/>
                </a:solidFill>
                <a:latin typeface="Calibri"/>
                <a:cs typeface="Calibri"/>
              </a:rPr>
              <a:t>Time</a:t>
            </a:r>
            <a:r>
              <a:rPr dirty="0" sz="2750" spc="-350" b="1">
                <a:solidFill>
                  <a:srgbClr val="DF8C58"/>
                </a:solidFill>
                <a:latin typeface="Calibri"/>
                <a:cs typeface="Calibri"/>
              </a:rPr>
              <a:t> </a:t>
            </a:r>
            <a:r>
              <a:rPr dirty="0" sz="2750" spc="-35" b="1">
                <a:solidFill>
                  <a:srgbClr val="DF8C58"/>
                </a:solidFill>
                <a:latin typeface="Calibri"/>
                <a:cs typeface="Calibri"/>
              </a:rPr>
              <a:t>Complexity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58520" y="7214862"/>
            <a:ext cx="1184910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-175">
                <a:solidFill>
                  <a:srgbClr val="F4F4F4"/>
                </a:solidFill>
                <a:latin typeface="Calibri"/>
                <a:cs typeface="Calibri"/>
              </a:rPr>
              <a:t>O(E</a:t>
            </a:r>
            <a:r>
              <a:rPr dirty="0" sz="2750" spc="-30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45">
                <a:solidFill>
                  <a:srgbClr val="F4F4F4"/>
                </a:solidFill>
                <a:latin typeface="Calibri"/>
                <a:cs typeface="Calibri"/>
              </a:rPr>
              <a:t>log</a:t>
            </a:r>
            <a:r>
              <a:rPr dirty="0" sz="2750" spc="-29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55">
                <a:solidFill>
                  <a:srgbClr val="F4F4F4"/>
                </a:solidFill>
                <a:latin typeface="Calibri"/>
                <a:cs typeface="Calibri"/>
              </a:rPr>
              <a:t>V)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814914" y="7214862"/>
            <a:ext cx="1156970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-175">
                <a:solidFill>
                  <a:srgbClr val="F4F4F4"/>
                </a:solidFill>
                <a:latin typeface="Calibri"/>
                <a:cs typeface="Calibri"/>
              </a:rPr>
              <a:t>O(E</a:t>
            </a:r>
            <a:r>
              <a:rPr dirty="0" sz="2750" spc="-30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45">
                <a:solidFill>
                  <a:srgbClr val="F4F4F4"/>
                </a:solidFill>
                <a:latin typeface="Calibri"/>
                <a:cs typeface="Calibri"/>
              </a:rPr>
              <a:t>log</a:t>
            </a:r>
            <a:r>
              <a:rPr dirty="0" sz="2750" spc="-29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50">
                <a:solidFill>
                  <a:srgbClr val="F4F4F4"/>
                </a:solidFill>
                <a:latin typeface="Calibri"/>
                <a:cs typeface="Calibri"/>
              </a:rPr>
              <a:t>E)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4207" y="7877540"/>
            <a:ext cx="2100580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b="1">
                <a:solidFill>
                  <a:srgbClr val="DF8C58"/>
                </a:solidFill>
                <a:latin typeface="Calibri"/>
                <a:cs typeface="Calibri"/>
              </a:rPr>
              <a:t>Best</a:t>
            </a:r>
            <a:r>
              <a:rPr dirty="0" sz="2750" spc="-305" b="1">
                <a:solidFill>
                  <a:srgbClr val="DF8C58"/>
                </a:solidFill>
                <a:latin typeface="Calibri"/>
                <a:cs typeface="Calibri"/>
              </a:rPr>
              <a:t> </a:t>
            </a:r>
            <a:r>
              <a:rPr dirty="0" sz="2750" spc="-55" b="1">
                <a:solidFill>
                  <a:srgbClr val="DF8C58"/>
                </a:solidFill>
                <a:latin typeface="Calibri"/>
                <a:cs typeface="Calibri"/>
              </a:rPr>
              <a:t>Suited</a:t>
            </a:r>
            <a:r>
              <a:rPr dirty="0" sz="2750" spc="-305" b="1">
                <a:solidFill>
                  <a:srgbClr val="DF8C58"/>
                </a:solidFill>
                <a:latin typeface="Calibri"/>
                <a:cs typeface="Calibri"/>
              </a:rPr>
              <a:t> </a:t>
            </a:r>
            <a:r>
              <a:rPr dirty="0" sz="2750" spc="-25" b="1">
                <a:solidFill>
                  <a:srgbClr val="DF8C58"/>
                </a:solidFill>
                <a:latin typeface="Calibri"/>
                <a:cs typeface="Calibri"/>
              </a:rPr>
              <a:t>For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53593" y="7877540"/>
            <a:ext cx="1734820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-165">
                <a:solidFill>
                  <a:srgbClr val="F4F4F4"/>
                </a:solidFill>
                <a:latin typeface="Calibri"/>
                <a:cs typeface="Calibri"/>
              </a:rPr>
              <a:t>Dense</a:t>
            </a:r>
            <a:r>
              <a:rPr dirty="0" sz="2750" spc="-28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90">
                <a:solidFill>
                  <a:srgbClr val="F4F4F4"/>
                </a:solidFill>
                <a:latin typeface="Calibri"/>
                <a:cs typeface="Calibri"/>
              </a:rPr>
              <a:t>graphs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808876" y="7877540"/>
            <a:ext cx="1847850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-75">
                <a:solidFill>
                  <a:srgbClr val="F4F4F4"/>
                </a:solidFill>
                <a:latin typeface="Calibri"/>
                <a:cs typeface="Calibri"/>
              </a:rPr>
              <a:t>Sparse</a:t>
            </a:r>
            <a:r>
              <a:rPr dirty="0" sz="2750" spc="-26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90">
                <a:solidFill>
                  <a:srgbClr val="F4F4F4"/>
                </a:solidFill>
                <a:latin typeface="Calibri"/>
                <a:cs typeface="Calibri"/>
              </a:rPr>
              <a:t>graphs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8814" y="8544679"/>
            <a:ext cx="1640839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20" b="1">
                <a:solidFill>
                  <a:srgbClr val="DF8C58"/>
                </a:solidFill>
                <a:latin typeface="Calibri"/>
                <a:cs typeface="Calibri"/>
              </a:rPr>
              <a:t>Advantages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27629" y="8540216"/>
            <a:ext cx="4081779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-165">
                <a:solidFill>
                  <a:srgbClr val="F4F4F4"/>
                </a:solidFill>
                <a:latin typeface="Calibri"/>
                <a:cs typeface="Calibri"/>
              </a:rPr>
              <a:t>Simple,</a:t>
            </a:r>
            <a:r>
              <a:rPr dirty="0" sz="2750" spc="-27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14">
                <a:solidFill>
                  <a:srgbClr val="F4F4F4"/>
                </a:solidFill>
                <a:latin typeface="Calibri"/>
                <a:cs typeface="Calibri"/>
              </a:rPr>
              <a:t>efficient</a:t>
            </a:r>
            <a:r>
              <a:rPr dirty="0" sz="2750" spc="-27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254">
                <a:solidFill>
                  <a:srgbClr val="F4F4F4"/>
                </a:solidFill>
                <a:latin typeface="Calibri"/>
                <a:cs typeface="Calibri"/>
              </a:rPr>
              <a:t>on</a:t>
            </a:r>
            <a:r>
              <a:rPr dirty="0" sz="2750" spc="-27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80">
                <a:solidFill>
                  <a:srgbClr val="F4F4F4"/>
                </a:solidFill>
                <a:latin typeface="Calibri"/>
                <a:cs typeface="Calibri"/>
              </a:rPr>
              <a:t>dense</a:t>
            </a:r>
            <a:r>
              <a:rPr dirty="0" sz="2750" spc="-27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70">
                <a:solidFill>
                  <a:srgbClr val="F4F4F4"/>
                </a:solidFill>
                <a:latin typeface="Calibri"/>
                <a:cs typeface="Calibri"/>
              </a:rPr>
              <a:t>graphs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782318" y="8540216"/>
            <a:ext cx="4225925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-114">
                <a:solidFill>
                  <a:srgbClr val="F4F4F4"/>
                </a:solidFill>
                <a:latin typeface="Calibri"/>
                <a:cs typeface="Calibri"/>
              </a:rPr>
              <a:t>Efficient</a:t>
            </a:r>
            <a:r>
              <a:rPr dirty="0" sz="2750" spc="-27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254">
                <a:solidFill>
                  <a:srgbClr val="F4F4F4"/>
                </a:solidFill>
                <a:latin typeface="Calibri"/>
                <a:cs typeface="Calibri"/>
              </a:rPr>
              <a:t>on</a:t>
            </a:r>
            <a:r>
              <a:rPr dirty="0" sz="2750" spc="-27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85">
                <a:solidFill>
                  <a:srgbClr val="F4F4F4"/>
                </a:solidFill>
                <a:latin typeface="Calibri"/>
                <a:cs typeface="Calibri"/>
              </a:rPr>
              <a:t>sparse</a:t>
            </a:r>
            <a:r>
              <a:rPr dirty="0" sz="2750" spc="-27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25">
                <a:solidFill>
                  <a:srgbClr val="F4F4F4"/>
                </a:solidFill>
                <a:latin typeface="Calibri"/>
                <a:cs typeface="Calibri"/>
              </a:rPr>
              <a:t>graphs,</a:t>
            </a:r>
            <a:r>
              <a:rPr dirty="0" sz="2750" spc="-27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30">
                <a:solidFill>
                  <a:srgbClr val="F4F4F4"/>
                </a:solidFill>
                <a:latin typeface="Calibri"/>
                <a:cs typeface="Calibri"/>
              </a:rPr>
              <a:t>flexible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04970" y="9207356"/>
            <a:ext cx="2029460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20" b="1">
                <a:solidFill>
                  <a:srgbClr val="DF8C58"/>
                </a:solidFill>
                <a:latin typeface="Calibri"/>
                <a:cs typeface="Calibri"/>
              </a:rPr>
              <a:t>Disadvantages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30137" y="9202894"/>
            <a:ext cx="3846829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-85">
                <a:solidFill>
                  <a:srgbClr val="F4F4F4"/>
                </a:solidFill>
                <a:latin typeface="Calibri"/>
                <a:cs typeface="Calibri"/>
              </a:rPr>
              <a:t>Less</a:t>
            </a:r>
            <a:r>
              <a:rPr dirty="0" sz="2750" spc="-28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14">
                <a:solidFill>
                  <a:srgbClr val="F4F4F4"/>
                </a:solidFill>
                <a:latin typeface="Calibri"/>
                <a:cs typeface="Calibri"/>
              </a:rPr>
              <a:t>efficient</a:t>
            </a:r>
            <a:r>
              <a:rPr dirty="0" sz="2750" spc="-28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254">
                <a:solidFill>
                  <a:srgbClr val="F4F4F4"/>
                </a:solidFill>
                <a:latin typeface="Calibri"/>
                <a:cs typeface="Calibri"/>
              </a:rPr>
              <a:t>on</a:t>
            </a:r>
            <a:r>
              <a:rPr dirty="0" sz="2750" spc="-28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85">
                <a:solidFill>
                  <a:srgbClr val="F4F4F4"/>
                </a:solidFill>
                <a:latin typeface="Calibri"/>
                <a:cs typeface="Calibri"/>
              </a:rPr>
              <a:t>sparse</a:t>
            </a:r>
            <a:r>
              <a:rPr dirty="0" sz="2750" spc="-285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70">
                <a:solidFill>
                  <a:srgbClr val="F4F4F4"/>
                </a:solidFill>
                <a:latin typeface="Calibri"/>
                <a:cs typeface="Calibri"/>
              </a:rPr>
              <a:t>graphs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775547" y="9202894"/>
            <a:ext cx="4944110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-150">
                <a:solidFill>
                  <a:srgbClr val="F4F4F4"/>
                </a:solidFill>
                <a:latin typeface="Calibri"/>
                <a:cs typeface="Calibri"/>
              </a:rPr>
              <a:t>Requires</a:t>
            </a:r>
            <a:r>
              <a:rPr dirty="0" sz="2750" spc="-27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14">
                <a:solidFill>
                  <a:srgbClr val="F4F4F4"/>
                </a:solidFill>
                <a:latin typeface="Calibri"/>
                <a:cs typeface="Calibri"/>
              </a:rPr>
              <a:t>extra</a:t>
            </a:r>
            <a:r>
              <a:rPr dirty="0" sz="2750" spc="-27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30">
                <a:solidFill>
                  <a:srgbClr val="F4F4F4"/>
                </a:solidFill>
                <a:latin typeface="Calibri"/>
                <a:cs typeface="Calibri"/>
              </a:rPr>
              <a:t>structure</a:t>
            </a:r>
            <a:r>
              <a:rPr dirty="0" sz="2750" spc="-27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50">
                <a:solidFill>
                  <a:srgbClr val="F4F4F4"/>
                </a:solidFill>
                <a:latin typeface="Calibri"/>
                <a:cs typeface="Calibri"/>
              </a:rPr>
              <a:t>for</a:t>
            </a:r>
            <a:r>
              <a:rPr dirty="0" sz="2750" spc="-27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110">
                <a:solidFill>
                  <a:srgbClr val="F4F4F4"/>
                </a:solidFill>
                <a:latin typeface="Calibri"/>
                <a:cs typeface="Calibri"/>
              </a:rPr>
              <a:t>cycle</a:t>
            </a:r>
            <a:r>
              <a:rPr dirty="0" sz="2750" spc="-270">
                <a:solidFill>
                  <a:srgbClr val="F4F4F4"/>
                </a:solidFill>
                <a:latin typeface="Calibri"/>
                <a:cs typeface="Calibri"/>
              </a:rPr>
              <a:t> </a:t>
            </a:r>
            <a:r>
              <a:rPr dirty="0" sz="2750" spc="-80">
                <a:solidFill>
                  <a:srgbClr val="F4F4F4"/>
                </a:solidFill>
                <a:latin typeface="Calibri"/>
                <a:cs typeface="Calibri"/>
              </a:rPr>
              <a:t>check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37498" y="2829916"/>
            <a:ext cx="9348470" cy="277876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50" spc="-710" b="0">
                <a:solidFill>
                  <a:srgbClr val="E7742D"/>
                </a:solidFill>
                <a:latin typeface="Calibri"/>
                <a:cs typeface="Calibri"/>
              </a:rPr>
              <a:t>Thank</a:t>
            </a:r>
            <a:r>
              <a:rPr dirty="0" sz="18050" spc="-1895" b="0">
                <a:solidFill>
                  <a:srgbClr val="E7742D"/>
                </a:solidFill>
                <a:latin typeface="Calibri"/>
                <a:cs typeface="Calibri"/>
              </a:rPr>
              <a:t> </a:t>
            </a:r>
            <a:r>
              <a:rPr dirty="0" sz="18050" spc="-955" b="0">
                <a:solidFill>
                  <a:srgbClr val="E7742D"/>
                </a:solidFill>
                <a:latin typeface="Calibri"/>
                <a:cs typeface="Calibri"/>
              </a:rPr>
              <a:t>You!</a:t>
            </a:r>
            <a:endParaRPr sz="180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19737" y="5294259"/>
            <a:ext cx="3738245" cy="182562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algn="ctr" marL="12700" marR="5080">
              <a:lnSpc>
                <a:spcPct val="143800"/>
              </a:lnSpc>
              <a:spcBef>
                <a:spcPts val="204"/>
              </a:spcBef>
            </a:pPr>
            <a:r>
              <a:rPr dirty="0" sz="2800" spc="-220">
                <a:solidFill>
                  <a:srgbClr val="E7742D"/>
                </a:solidFill>
                <a:latin typeface="Arial Black"/>
                <a:cs typeface="Arial Black"/>
              </a:rPr>
              <a:t>Name</a:t>
            </a:r>
            <a:r>
              <a:rPr dirty="0" sz="2800" spc="-250">
                <a:solidFill>
                  <a:srgbClr val="E7742D"/>
                </a:solidFill>
                <a:latin typeface="Arial Black"/>
                <a:cs typeface="Arial Black"/>
              </a:rPr>
              <a:t> </a:t>
            </a:r>
            <a:r>
              <a:rPr dirty="0" sz="2800" spc="140">
                <a:solidFill>
                  <a:srgbClr val="E7742D"/>
                </a:solidFill>
                <a:latin typeface="Arial Black"/>
                <a:cs typeface="Arial Black"/>
              </a:rPr>
              <a:t>-</a:t>
            </a:r>
            <a:r>
              <a:rPr dirty="0" sz="2800" spc="-245">
                <a:solidFill>
                  <a:srgbClr val="E7742D"/>
                </a:solidFill>
                <a:latin typeface="Arial Black"/>
                <a:cs typeface="Arial Black"/>
              </a:rPr>
              <a:t> </a:t>
            </a:r>
            <a:r>
              <a:rPr dirty="0" sz="2800" spc="-225">
                <a:solidFill>
                  <a:srgbClr val="E7742D"/>
                </a:solidFill>
                <a:latin typeface="Arial Black"/>
                <a:cs typeface="Arial Black"/>
              </a:rPr>
              <a:t>Kiran</a:t>
            </a:r>
            <a:r>
              <a:rPr dirty="0" sz="2800" spc="-245">
                <a:solidFill>
                  <a:srgbClr val="E7742D"/>
                </a:solidFill>
                <a:latin typeface="Arial Black"/>
                <a:cs typeface="Arial Black"/>
              </a:rPr>
              <a:t> </a:t>
            </a:r>
            <a:r>
              <a:rPr dirty="0" sz="2800" spc="-150">
                <a:solidFill>
                  <a:srgbClr val="E7742D"/>
                </a:solidFill>
                <a:latin typeface="Arial Black"/>
                <a:cs typeface="Arial Black"/>
              </a:rPr>
              <a:t>Satpute </a:t>
            </a:r>
            <a:r>
              <a:rPr dirty="0" sz="2550" spc="-195">
                <a:solidFill>
                  <a:srgbClr val="E7742D"/>
                </a:solidFill>
                <a:latin typeface="Arial Black"/>
                <a:cs typeface="Arial Black"/>
              </a:rPr>
              <a:t>PRN</a:t>
            </a:r>
            <a:r>
              <a:rPr dirty="0" sz="2550" spc="-235">
                <a:solidFill>
                  <a:srgbClr val="E7742D"/>
                </a:solidFill>
                <a:latin typeface="Arial Black"/>
                <a:cs typeface="Arial Black"/>
              </a:rPr>
              <a:t> </a:t>
            </a:r>
            <a:r>
              <a:rPr dirty="0" sz="2550" spc="140">
                <a:solidFill>
                  <a:srgbClr val="E7742D"/>
                </a:solidFill>
                <a:latin typeface="Arial Black"/>
                <a:cs typeface="Arial Black"/>
              </a:rPr>
              <a:t>-</a:t>
            </a:r>
            <a:r>
              <a:rPr dirty="0" sz="2550" spc="-229">
                <a:solidFill>
                  <a:srgbClr val="E7742D"/>
                </a:solidFill>
                <a:latin typeface="Arial Black"/>
                <a:cs typeface="Arial Black"/>
              </a:rPr>
              <a:t> </a:t>
            </a:r>
            <a:r>
              <a:rPr dirty="0" sz="2550" spc="-80">
                <a:solidFill>
                  <a:srgbClr val="E7742D"/>
                </a:solidFill>
                <a:latin typeface="Arial Black"/>
                <a:cs typeface="Arial Black"/>
              </a:rPr>
              <a:t>25070521294 </a:t>
            </a:r>
            <a:r>
              <a:rPr dirty="0" sz="2800" spc="-135">
                <a:solidFill>
                  <a:srgbClr val="E7742D"/>
                </a:solidFill>
                <a:latin typeface="Arial Black"/>
                <a:cs typeface="Arial Black"/>
              </a:rPr>
              <a:t>SEC/SEM-</a:t>
            </a:r>
            <a:r>
              <a:rPr dirty="0" sz="2800" spc="-10">
                <a:solidFill>
                  <a:srgbClr val="E7742D"/>
                </a:solidFill>
                <a:latin typeface="Arial Black"/>
                <a:cs typeface="Arial Black"/>
              </a:rPr>
              <a:t>E2/III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48647" y="374963"/>
            <a:ext cx="5480685" cy="3486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100" spc="-140">
                <a:solidFill>
                  <a:srgbClr val="E7742D"/>
                </a:solidFill>
                <a:latin typeface="Arial Black"/>
                <a:cs typeface="Arial Black"/>
              </a:rPr>
              <a:t>Subject</a:t>
            </a:r>
            <a:r>
              <a:rPr dirty="0" sz="2100" spc="-175">
                <a:solidFill>
                  <a:srgbClr val="E7742D"/>
                </a:solidFill>
                <a:latin typeface="Arial Black"/>
                <a:cs typeface="Arial Black"/>
              </a:rPr>
              <a:t> </a:t>
            </a:r>
            <a:r>
              <a:rPr dirty="0" sz="2100" spc="110">
                <a:solidFill>
                  <a:srgbClr val="E7742D"/>
                </a:solidFill>
                <a:latin typeface="Arial Black"/>
                <a:cs typeface="Arial Black"/>
              </a:rPr>
              <a:t>-</a:t>
            </a:r>
            <a:r>
              <a:rPr dirty="0" sz="2100" spc="-175">
                <a:solidFill>
                  <a:srgbClr val="E7742D"/>
                </a:solidFill>
                <a:latin typeface="Arial Black"/>
                <a:cs typeface="Arial Black"/>
              </a:rPr>
              <a:t> </a:t>
            </a:r>
            <a:r>
              <a:rPr dirty="0" sz="2100" spc="-150">
                <a:solidFill>
                  <a:srgbClr val="E7742D"/>
                </a:solidFill>
                <a:latin typeface="Arial Black"/>
                <a:cs typeface="Arial Black"/>
              </a:rPr>
              <a:t>design</a:t>
            </a:r>
            <a:r>
              <a:rPr dirty="0" sz="2100" spc="-175">
                <a:solidFill>
                  <a:srgbClr val="E7742D"/>
                </a:solidFill>
                <a:latin typeface="Arial Black"/>
                <a:cs typeface="Arial Black"/>
              </a:rPr>
              <a:t> </a:t>
            </a:r>
            <a:r>
              <a:rPr dirty="0" sz="2100" spc="-114">
                <a:solidFill>
                  <a:srgbClr val="E7742D"/>
                </a:solidFill>
                <a:latin typeface="Arial Black"/>
                <a:cs typeface="Arial Black"/>
              </a:rPr>
              <a:t>and</a:t>
            </a:r>
            <a:r>
              <a:rPr dirty="0" sz="2100" spc="-170">
                <a:solidFill>
                  <a:srgbClr val="E7742D"/>
                </a:solidFill>
                <a:latin typeface="Arial Black"/>
                <a:cs typeface="Arial Black"/>
              </a:rPr>
              <a:t> </a:t>
            </a:r>
            <a:r>
              <a:rPr dirty="0" sz="2100" spc="-155">
                <a:solidFill>
                  <a:srgbClr val="E7742D"/>
                </a:solidFill>
                <a:latin typeface="Arial Black"/>
                <a:cs typeface="Arial Black"/>
              </a:rPr>
              <a:t>analysis</a:t>
            </a:r>
            <a:r>
              <a:rPr dirty="0" sz="2100" spc="-175">
                <a:solidFill>
                  <a:srgbClr val="E7742D"/>
                </a:solidFill>
                <a:latin typeface="Arial Black"/>
                <a:cs typeface="Arial Black"/>
              </a:rPr>
              <a:t> </a:t>
            </a:r>
            <a:r>
              <a:rPr dirty="0" sz="2100" spc="-50">
                <a:solidFill>
                  <a:srgbClr val="E7742D"/>
                </a:solidFill>
                <a:latin typeface="Arial Black"/>
                <a:cs typeface="Arial Black"/>
              </a:rPr>
              <a:t>of</a:t>
            </a:r>
            <a:r>
              <a:rPr dirty="0" sz="2100" spc="-175">
                <a:solidFill>
                  <a:srgbClr val="E7742D"/>
                </a:solidFill>
                <a:latin typeface="Arial Black"/>
                <a:cs typeface="Arial Black"/>
              </a:rPr>
              <a:t> </a:t>
            </a:r>
            <a:r>
              <a:rPr dirty="0" sz="2100" spc="-75">
                <a:solidFill>
                  <a:srgbClr val="E7742D"/>
                </a:solidFill>
                <a:latin typeface="Arial Black"/>
                <a:cs typeface="Arial Black"/>
              </a:rPr>
              <a:t>algorithm</a:t>
            </a:r>
            <a:endParaRPr sz="21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1692" y="9563602"/>
            <a:ext cx="30683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29">
                <a:solidFill>
                  <a:srgbClr val="E7742D"/>
                </a:solidFill>
                <a:latin typeface="Arial Black"/>
                <a:cs typeface="Arial Black"/>
              </a:rPr>
              <a:t>Tool</a:t>
            </a:r>
            <a:r>
              <a:rPr dirty="0" sz="2800" spc="-254">
                <a:solidFill>
                  <a:srgbClr val="E7742D"/>
                </a:solidFill>
                <a:latin typeface="Arial Black"/>
                <a:cs typeface="Arial Black"/>
              </a:rPr>
              <a:t> </a:t>
            </a:r>
            <a:r>
              <a:rPr dirty="0" sz="2800" spc="-195">
                <a:solidFill>
                  <a:srgbClr val="E7742D"/>
                </a:solidFill>
                <a:latin typeface="Arial Black"/>
                <a:cs typeface="Arial Black"/>
              </a:rPr>
              <a:t>used</a:t>
            </a:r>
            <a:r>
              <a:rPr dirty="0" sz="2800" spc="-254">
                <a:solidFill>
                  <a:srgbClr val="E7742D"/>
                </a:solidFill>
                <a:latin typeface="Arial Black"/>
                <a:cs typeface="Arial Black"/>
              </a:rPr>
              <a:t> </a:t>
            </a:r>
            <a:r>
              <a:rPr dirty="0" sz="2800" spc="140">
                <a:solidFill>
                  <a:srgbClr val="E7742D"/>
                </a:solidFill>
                <a:latin typeface="Arial Black"/>
                <a:cs typeface="Arial Black"/>
              </a:rPr>
              <a:t>-</a:t>
            </a:r>
            <a:r>
              <a:rPr dirty="0" sz="2800" spc="-254">
                <a:solidFill>
                  <a:srgbClr val="E7742D"/>
                </a:solidFill>
                <a:latin typeface="Arial Black"/>
                <a:cs typeface="Arial Black"/>
              </a:rPr>
              <a:t> </a:t>
            </a:r>
            <a:r>
              <a:rPr dirty="0" sz="2800" spc="-185">
                <a:solidFill>
                  <a:srgbClr val="E7742D"/>
                </a:solidFill>
                <a:latin typeface="Arial Black"/>
                <a:cs typeface="Arial Black"/>
              </a:rPr>
              <a:t>Canva</a:t>
            </a:r>
            <a:endParaRPr sz="2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Kiran Satpute</dc:creator>
  <cp:keywords>DAHYLR-fvps,BAFuUGL4Q6U</cp:keywords>
  <dc:title>MST Algorithms</dc:title>
  <dcterms:created xsi:type="dcterms:W3CDTF">2026-10-19T18:06:29Z</dcterms:created>
  <dcterms:modified xsi:type="dcterms:W3CDTF">2026-10-19T18:06:29Z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2026-10-19T00:00:00Z</vt:filetime>
  </property>
  <property fmtid="{D5CDD505-2E9C-101B-9397-08002B2CF9AE}" pid="3" name="Creator">
    <vt:lpwstr>Canva</vt:lpwstr>
  </property>
  <property fmtid="{D5CDD505-2E9C-101B-9397-08002B2CF9AE}" pid="4" name="LastSaved">
    <vt:filetime>2026-10-19T00:00:00Z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